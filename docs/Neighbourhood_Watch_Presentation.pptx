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 Introduction" id="{8f5021e9-997a-a438-05fe-5cd40436e7f6}">
          <p14:sldIdLst>
            <p14:sldId id="256"/>
            <p14:sldId id="257"/>
          </p14:sldIdLst>
        </p14:section>
        <p14:section name="2 Background" id="{cf827d46-000a-daea-7727-68d64184cf3d}">
          <p14:sldIdLst>
            <p14:sldId id="258"/>
          </p14:sldIdLst>
        </p14:section>
        <p14:section name="3 Problem Statement" id="{83feb035-17bf-817a-d82f-f1654dbab3c9}">
          <p14:sldIdLst>
            <p14:sldId id="259"/>
          </p14:sldIdLst>
        </p14:section>
        <p14:section name="4 Objectives" id="{5f94c0b4-17a9-1aef-17e6-9efd8a39a402}">
          <p14:sldIdLst>
            <p14:sldId id="260"/>
          </p14:sldIdLst>
        </p14:section>
        <p14:section name="5 Methods Used" id="{79970c2e-ff1e-10a5-e126-bdb68f27ffbf}">
          <p14:sldIdLst>
            <p14:sldId id="261"/>
            <p14:sldId id="262"/>
            <p14:sldId id="263"/>
            <p14:sldId id="264"/>
            <p14:sldId id="265"/>
          </p14:sldIdLst>
        </p14:section>
        <p14:section name="6 Benefits and Future Plans" id="{fbd55862-1fe1-7c7c-ebae-a1116606f3af}">
          <p14:sldIdLst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41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B2A41"/>
                </a:solidFill>
                <a:latin typeface="Calibri"/>
              </a:rPr>
              <a:t>Automated tests passed by app (9 Oct 2026)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Tests passed</c:v>
                </c:pt>
              </c:strCache>
            </c:strRef>
          </c:tx>
          <c:spPr>
            <a:solidFill>
              <a:srgbClr val="12B5C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accounts</c:v>
                  </c:pt>
                  <c:pt idx="1">
                    <c:v>notifications</c:v>
                  </c:pt>
                  <c:pt idx="2">
                    <c:v>core</c:v>
                  </c:pt>
                  <c:pt idx="3">
                    <c:v>sos</c:v>
                  </c:pt>
                  <c:pt idx="4">
                    <c:v>neighborhoods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56</c:v>
                </c:pt>
                <c:pt idx="1">
                  <c:v>44</c:v>
                </c:pt>
                <c:pt idx="2">
                  <c:v>44</c:v>
                </c:pt>
                <c:pt idx="3">
                  <c:v>22</c:v>
                </c:pt>
                <c:pt idx="4">
                  <c:v>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A4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4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system name and candidate details. Fill in the name, registration number and supervisor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Neighbourhood Watch Zimbabwe lets residents report and alert, and lets coordinators and police respond. Five roles control who can do what.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current process depends on word of mouth, WhatsApp groups and paper books. Information is slow, unchecked and unrecorded.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problems with the current system, each with its effect on the community.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SMART objectives, each with a way to measure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Requirements came from interviews, questionnaires, observation and document review. All five feasibility tests were passed.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Structured analysis and design: DFDs up to level 2, UML diagrams and entity relationship diagrams.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API serves the website and the mobile app. Django was chosen for being mature and secure by default.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live system. Only valid status steps are accepted and each change is audited.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 excludes the incidents test suite, which did not finish inside the 5 minute limit of the 9 October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ome screenshot" descr="C:/Users/Kali/Documents/GitHub/Neihbourhood Watch/docs/screenshots/ui_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37760" y="822960"/>
            <a:ext cx="3749040" cy="234086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2B5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200" dirty="0"/>
          </a:p>
        </p:txBody>
      </p:sp>
      <p:sp>
        <p:nvSpPr>
          <p:cNvPr id="4" name="Title"/>
          <p:cNvSpPr txBox="1"/>
          <p:nvPr/>
        </p:nvSpPr>
        <p:spPr>
          <a:xfrm>
            <a:off x="457200" y="91440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Neighbourhood Watch Zimbabwe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46888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F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website for community incident reporting and emergency alerts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457200" y="3520440"/>
            <a:ext cx="8229600" cy="1051560"/>
          </a:xfrm>
          <a:prstGeom prst="roundRect">
            <a:avLst>
              <a:gd name="adj" fmla="val 10435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3611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874520" y="36118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  (Reg. No. ____________)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9136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874520" y="391363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ND3 Information Technology, Kwekwe Polytechnic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42153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874520" y="421538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      October 2026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B5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INTRODUCTION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 is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website where residents report crime and send emergency alerts. Coordinators and police follow each report and alert through to the end, and every important action is recorded.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0175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B5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6576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passed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30175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B5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36576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200400" y="30175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B5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$135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3200400" y="36576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first-year cost estimate</a:t>
            </a:r>
            <a:endParaRPr lang="en-US" sz="1200" dirty="0"/>
          </a:p>
        </p:txBody>
      </p:sp>
      <p:sp>
        <p:nvSpPr>
          <p:cNvPr id="11" name="Card"/>
          <p:cNvSpPr/>
          <p:nvPr/>
        </p:nvSpPr>
        <p:spPr>
          <a:xfrm>
            <a:off x="4754880" y="1371600"/>
            <a:ext cx="3931920" cy="530352"/>
          </a:xfrm>
          <a:prstGeom prst="roundRect">
            <a:avLst>
              <a:gd name="adj" fmla="val 20690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12" name="Badge 1"/>
          <p:cNvSpPr/>
          <p:nvPr/>
        </p:nvSpPr>
        <p:spPr>
          <a:xfrm>
            <a:off x="4846320" y="1453896"/>
            <a:ext cx="365760" cy="365760"/>
          </a:xfrm>
          <a:prstGeom prst="ellipse">
            <a:avLst/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453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349240" y="1399032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349240" y="163677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incidents, sends SOS</a:t>
            </a:r>
            <a:endParaRPr lang="en-US" sz="1200" dirty="0"/>
          </a:p>
        </p:txBody>
      </p:sp>
      <p:sp>
        <p:nvSpPr>
          <p:cNvPr id="16" name="Card"/>
          <p:cNvSpPr/>
          <p:nvPr/>
        </p:nvSpPr>
        <p:spPr>
          <a:xfrm>
            <a:off x="4754880" y="1993392"/>
            <a:ext cx="3931920" cy="530352"/>
          </a:xfrm>
          <a:prstGeom prst="roundRect">
            <a:avLst>
              <a:gd name="adj" fmla="val 20690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17" name="Badge 2"/>
          <p:cNvSpPr/>
          <p:nvPr/>
        </p:nvSpPr>
        <p:spPr>
          <a:xfrm>
            <a:off x="4846320" y="2075688"/>
            <a:ext cx="365760" cy="365760"/>
          </a:xfrm>
          <a:prstGeom prst="ellipse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2020824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Captain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349240" y="225856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first point of contact</a:t>
            </a:r>
            <a:endParaRPr lang="en-US" sz="1200" dirty="0"/>
          </a:p>
        </p:txBody>
      </p:sp>
      <p:sp>
        <p:nvSpPr>
          <p:cNvPr id="21" name="Card"/>
          <p:cNvSpPr/>
          <p:nvPr/>
        </p:nvSpPr>
        <p:spPr>
          <a:xfrm>
            <a:off x="4754880" y="2615184"/>
            <a:ext cx="3931920" cy="530352"/>
          </a:xfrm>
          <a:prstGeom prst="roundRect">
            <a:avLst>
              <a:gd name="adj" fmla="val 20690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22" name="Badge 3"/>
          <p:cNvSpPr/>
          <p:nvPr/>
        </p:nvSpPr>
        <p:spPr>
          <a:xfrm>
            <a:off x="4846320" y="2697480"/>
            <a:ext cx="365760" cy="36576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4632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349240" y="2642616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349240" y="28803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residents and incidents</a:t>
            </a:r>
            <a:endParaRPr lang="en-US" sz="1200" dirty="0"/>
          </a:p>
        </p:txBody>
      </p:sp>
      <p:sp>
        <p:nvSpPr>
          <p:cNvPr id="26" name="Card"/>
          <p:cNvSpPr/>
          <p:nvPr/>
        </p:nvSpPr>
        <p:spPr>
          <a:xfrm>
            <a:off x="4754880" y="3236976"/>
            <a:ext cx="3931920" cy="530352"/>
          </a:xfrm>
          <a:prstGeom prst="roundRect">
            <a:avLst>
              <a:gd name="adj" fmla="val 20690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27" name="Badge 4"/>
          <p:cNvSpPr/>
          <p:nvPr/>
        </p:nvSpPr>
        <p:spPr>
          <a:xfrm>
            <a:off x="4846320" y="3319272"/>
            <a:ext cx="365760" cy="365760"/>
          </a:xfrm>
          <a:prstGeom prst="ellipse">
            <a:avLst/>
          </a:prstGeom>
          <a:solidFill>
            <a:srgbClr val="6E56CF"/>
          </a:solidFill>
          <a:ln w="12700">
            <a:solidFill>
              <a:srgbClr val="6E56C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46320" y="3319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349240" y="3264408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Officer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349240" y="35021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Investigates and resolves cases</a:t>
            </a:r>
            <a:endParaRPr lang="en-US" sz="1200" dirty="0"/>
          </a:p>
        </p:txBody>
      </p:sp>
      <p:sp>
        <p:nvSpPr>
          <p:cNvPr id="31" name="Card"/>
          <p:cNvSpPr/>
          <p:nvPr/>
        </p:nvSpPr>
        <p:spPr>
          <a:xfrm>
            <a:off x="4754880" y="3858768"/>
            <a:ext cx="3931920" cy="530352"/>
          </a:xfrm>
          <a:prstGeom prst="roundRect">
            <a:avLst>
              <a:gd name="adj" fmla="val 20690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32" name="Badge 5"/>
          <p:cNvSpPr/>
          <p:nvPr/>
        </p:nvSpPr>
        <p:spPr>
          <a:xfrm>
            <a:off x="4846320" y="3941064"/>
            <a:ext cx="365760" cy="36576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846320" y="3941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5349240" y="3886200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Administrator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5349240" y="412394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administrative control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B5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BACKGROUND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neighbourhood watch works today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neighbourhood watch is a voluntary group of residents who look after their area, working with the Zimbabwe Republic Police, block captains and residents' association coordinators.</a:t>
            </a:r>
            <a:endParaRPr lang="en-US" sz="1500" dirty="0"/>
          </a:p>
        </p:txBody>
      </p:sp>
      <p:sp>
        <p:nvSpPr>
          <p:cNvPr id="5" name="Card"/>
          <p:cNvSpPr/>
          <p:nvPr/>
        </p:nvSpPr>
        <p:spPr>
          <a:xfrm>
            <a:off x="457200" y="2286000"/>
            <a:ext cx="1920240" cy="2011680"/>
          </a:xfrm>
          <a:prstGeom prst="roundRect">
            <a:avLst>
              <a:gd name="adj" fmla="val 5714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6" name="Badge 1"/>
          <p:cNvSpPr/>
          <p:nvPr/>
        </p:nvSpPr>
        <p:spPr>
          <a:xfrm>
            <a:off x="594360" y="2423160"/>
            <a:ext cx="457200" cy="457200"/>
          </a:xfrm>
          <a:prstGeom prst="ellipse">
            <a:avLst/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0175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resident sees a crime or something suspicious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2560320" y="2286000"/>
            <a:ext cx="1920240" cy="2011680"/>
          </a:xfrm>
          <a:prstGeom prst="roundRect">
            <a:avLst>
              <a:gd name="adj" fmla="val 5714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10" name="Badge 2"/>
          <p:cNvSpPr/>
          <p:nvPr/>
        </p:nvSpPr>
        <p:spPr>
          <a:xfrm>
            <a:off x="2697480" y="2423160"/>
            <a:ext cx="457200" cy="457200"/>
          </a:xfrm>
          <a:prstGeom prst="ellipse">
            <a:avLst/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9748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30175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tell a neighbour, phone a block captain or post in WhatsApp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4663440" y="2286000"/>
            <a:ext cx="1920240" cy="2011680"/>
          </a:xfrm>
          <a:prstGeom prst="roundRect">
            <a:avLst>
              <a:gd name="adj" fmla="val 5714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14" name="Badge 3"/>
          <p:cNvSpPr/>
          <p:nvPr/>
        </p:nvSpPr>
        <p:spPr>
          <a:xfrm>
            <a:off x="4800600" y="2423160"/>
            <a:ext cx="457200" cy="457200"/>
          </a:xfrm>
          <a:prstGeom prst="ellipse">
            <a:avLst/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060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30175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captain writes it in a paper book or phones the police</a:t>
            </a:r>
            <a:endParaRPr lang="en-US" sz="1400" dirty="0"/>
          </a:p>
        </p:txBody>
      </p:sp>
      <p:sp>
        <p:nvSpPr>
          <p:cNvPr id="17" name="Card"/>
          <p:cNvSpPr/>
          <p:nvPr/>
        </p:nvSpPr>
        <p:spPr>
          <a:xfrm>
            <a:off x="6766560" y="2286000"/>
            <a:ext cx="1920240" cy="2011680"/>
          </a:xfrm>
          <a:prstGeom prst="roundRect">
            <a:avLst>
              <a:gd name="adj" fmla="val 5714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18" name="Badge 4"/>
          <p:cNvSpPr/>
          <p:nvPr/>
        </p:nvSpPr>
        <p:spPr>
          <a:xfrm>
            <a:off x="6903720" y="2423160"/>
            <a:ext cx="457200" cy="45720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0372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30175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 emergency people shout, blow whistles or phone one by one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B5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PROBLEM STATEMENT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are slow, unchecked and lost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457200" y="137160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5" name="Badge 1"/>
          <p:cNvSpPr/>
          <p:nvPr/>
        </p:nvSpPr>
        <p:spPr>
          <a:xfrm>
            <a:off x="594360" y="1508760"/>
            <a:ext cx="365760" cy="365760"/>
          </a:xfrm>
          <a:prstGeom prst="ellipse">
            <a:avLst/>
          </a:prstGeom>
          <a:solidFill>
            <a:srgbClr val="0B1730"/>
          </a:solidFill>
          <a:ln w="12700">
            <a:solidFill>
              <a:srgbClr val="0B173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965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or paper reports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3957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Effect: Records are lost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3246120" y="137160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10" name="Badge 2"/>
          <p:cNvSpPr/>
          <p:nvPr/>
        </p:nvSpPr>
        <p:spPr>
          <a:xfrm>
            <a:off x="3383280" y="1508760"/>
            <a:ext cx="365760" cy="365760"/>
          </a:xfrm>
          <a:prstGeom prst="ellipse">
            <a:avLst/>
          </a:prstGeom>
          <a:solidFill>
            <a:srgbClr val="0B1730"/>
          </a:solidFill>
          <a:ln w="12700">
            <a:solidFill>
              <a:srgbClr val="0B173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8328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1965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exact location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383280" y="23957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Effect: Police waste time finding the place</a:t>
            </a:r>
            <a:endParaRPr lang="en-US" sz="1200" dirty="0"/>
          </a:p>
        </p:txBody>
      </p:sp>
      <p:sp>
        <p:nvSpPr>
          <p:cNvPr id="14" name="Card"/>
          <p:cNvSpPr/>
          <p:nvPr/>
        </p:nvSpPr>
        <p:spPr>
          <a:xfrm>
            <a:off x="6035040" y="137160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15" name="Badge 3"/>
          <p:cNvSpPr/>
          <p:nvPr/>
        </p:nvSpPr>
        <p:spPr>
          <a:xfrm>
            <a:off x="6172200" y="1508760"/>
            <a:ext cx="365760" cy="365760"/>
          </a:xfrm>
          <a:prstGeom prst="ellipse">
            <a:avLst/>
          </a:prstGeom>
          <a:solidFill>
            <a:srgbClr val="0B1730"/>
          </a:solidFill>
          <a:ln w="12700">
            <a:solidFill>
              <a:srgbClr val="0B173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7220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1965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check that a report is true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172200" y="23957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Effect: Rumours spread in groups</a:t>
            </a:r>
            <a:endParaRPr lang="en-US" sz="1200" dirty="0"/>
          </a:p>
        </p:txBody>
      </p:sp>
      <p:sp>
        <p:nvSpPr>
          <p:cNvPr id="19" name="Card"/>
          <p:cNvSpPr/>
          <p:nvPr/>
        </p:nvSpPr>
        <p:spPr>
          <a:xfrm>
            <a:off x="457200" y="306324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20" name="Badge 4"/>
          <p:cNvSpPr/>
          <p:nvPr/>
        </p:nvSpPr>
        <p:spPr>
          <a:xfrm>
            <a:off x="594360" y="3200400"/>
            <a:ext cx="365760" cy="365760"/>
          </a:xfrm>
          <a:prstGeom prst="ellipse">
            <a:avLst/>
          </a:prstGeom>
          <a:solidFill>
            <a:srgbClr val="0B1730"/>
          </a:solidFill>
          <a:ln w="12700">
            <a:solidFill>
              <a:srgbClr val="0B173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3657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stays on personal phones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40873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Effect: Hard to use as proof</a:t>
            </a:r>
            <a:endParaRPr lang="en-US" sz="1200" dirty="0"/>
          </a:p>
        </p:txBody>
      </p:sp>
      <p:sp>
        <p:nvSpPr>
          <p:cNvPr id="24" name="Card"/>
          <p:cNvSpPr/>
          <p:nvPr/>
        </p:nvSpPr>
        <p:spPr>
          <a:xfrm>
            <a:off x="3246120" y="306324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25" name="Badge 5"/>
          <p:cNvSpPr/>
          <p:nvPr/>
        </p:nvSpPr>
        <p:spPr>
          <a:xfrm>
            <a:off x="3383280" y="3200400"/>
            <a:ext cx="365760" cy="36576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38328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383280" y="3657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quick emergency alert with location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383280" y="40873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Effect: Help arrives late</a:t>
            </a:r>
            <a:endParaRPr lang="en-US" sz="1200" dirty="0"/>
          </a:p>
        </p:txBody>
      </p:sp>
      <p:sp>
        <p:nvSpPr>
          <p:cNvPr id="29" name="Card"/>
          <p:cNvSpPr/>
          <p:nvPr/>
        </p:nvSpPr>
        <p:spPr>
          <a:xfrm>
            <a:off x="6035040" y="306324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30" name="Badge 6"/>
          <p:cNvSpPr/>
          <p:nvPr/>
        </p:nvSpPr>
        <p:spPr>
          <a:xfrm>
            <a:off x="6172200" y="3200400"/>
            <a:ext cx="365760" cy="365760"/>
          </a:xfrm>
          <a:prstGeom prst="ellipse">
            <a:avLst/>
          </a:prstGeom>
          <a:solidFill>
            <a:srgbClr val="0B1730"/>
          </a:solidFill>
          <a:ln w="12700">
            <a:solidFill>
              <a:srgbClr val="0B173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17220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172200" y="3657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 of who handled a report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172200" y="40873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Effect: Residents get no feedback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B5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OBJECTIVES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 must do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457200" y="137160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5" name="Badge 1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and log in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89280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F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with an emailed one-time code, log in, and receive one of five roles.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5328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by: 56 account tests pass</a:t>
            </a:r>
            <a:endParaRPr lang="en-US" sz="1100" dirty="0"/>
          </a:p>
        </p:txBody>
      </p:sp>
      <p:sp>
        <p:nvSpPr>
          <p:cNvPr id="10" name="Card"/>
          <p:cNvSpPr/>
          <p:nvPr/>
        </p:nvSpPr>
        <p:spPr>
          <a:xfrm>
            <a:off x="4663440" y="137160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11" name="Badge 2"/>
          <p:cNvSpPr/>
          <p:nvPr/>
        </p:nvSpPr>
        <p:spPr>
          <a:xfrm>
            <a:off x="4846320" y="1554480"/>
            <a:ext cx="457200" cy="457200"/>
          </a:xfrm>
          <a:prstGeom prst="ellipse">
            <a:avLst/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44068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and handle incidents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40680" y="189280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F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with a map location and evidence up to 100 MB. Coordinators verify, assign and close.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40680" y="25328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by: incident and evidence tests</a:t>
            </a:r>
            <a:endParaRPr lang="en-US" sz="1100" dirty="0"/>
          </a:p>
        </p:txBody>
      </p:sp>
      <p:sp>
        <p:nvSpPr>
          <p:cNvPr id="16" name="Card"/>
          <p:cNvSpPr/>
          <p:nvPr/>
        </p:nvSpPr>
        <p:spPr>
          <a:xfrm>
            <a:off x="457200" y="301752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17" name="Badge 3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3200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SOS alerts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353872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F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an SOS with live location. Coordinators, police and admins see it.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41788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by: 22 SOS tests pass</a:t>
            </a:r>
            <a:endParaRPr lang="en-US" sz="1100" dirty="0"/>
          </a:p>
        </p:txBody>
      </p:sp>
      <p:sp>
        <p:nvSpPr>
          <p:cNvPr id="22" name="Card"/>
          <p:cNvSpPr/>
          <p:nvPr/>
        </p:nvSpPr>
        <p:spPr>
          <a:xfrm>
            <a:off x="4663440" y="301752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23" name="Badge 4"/>
          <p:cNvSpPr/>
          <p:nvPr/>
        </p:nvSpPr>
        <p:spPr>
          <a:xfrm>
            <a:off x="4846320" y="3200400"/>
            <a:ext cx="457200" cy="457200"/>
          </a:xfrm>
          <a:prstGeom prst="ellipse">
            <a:avLst/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463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5440680" y="3200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an audit trail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440680" y="353872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F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every important action to the audit log with user, time and IP address.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40680" y="41788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by: entries for sign-up and status changes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B5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METHODS USED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the facts and checking feasibility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Fact-finding</a:t>
            </a:r>
            <a:endParaRPr lang="en-US" sz="1800" dirty="0"/>
          </a:p>
        </p:txBody>
      </p:sp>
      <p:sp>
        <p:nvSpPr>
          <p:cNvPr id="5" name="Card"/>
          <p:cNvSpPr/>
          <p:nvPr/>
        </p:nvSpPr>
        <p:spPr>
          <a:xfrm>
            <a:off x="457200" y="1691640"/>
            <a:ext cx="3931920" cy="621792"/>
          </a:xfrm>
          <a:prstGeom prst="roundRect">
            <a:avLst>
              <a:gd name="adj" fmla="val 17647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7465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025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Coordinators, police officers, block captains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457200" y="2404872"/>
            <a:ext cx="3931920" cy="621792"/>
          </a:xfrm>
          <a:prstGeom prst="roundRect">
            <a:avLst>
              <a:gd name="adj" fmla="val 17647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4597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Questionnaires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7157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Residents, block captains and watch members</a:t>
            </a:r>
            <a:endParaRPr lang="en-US" sz="1200" dirty="0"/>
          </a:p>
        </p:txBody>
      </p:sp>
      <p:sp>
        <p:nvSpPr>
          <p:cNvPr id="11" name="Card"/>
          <p:cNvSpPr/>
          <p:nvPr/>
        </p:nvSpPr>
        <p:spPr>
          <a:xfrm>
            <a:off x="457200" y="3118104"/>
            <a:ext cx="3931920" cy="621792"/>
          </a:xfrm>
          <a:prstGeom prst="roundRect">
            <a:avLst>
              <a:gd name="adj" fmla="val 17647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1729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4290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groups and paper books in use</a:t>
            </a:r>
            <a:endParaRPr lang="en-US" sz="1200" dirty="0"/>
          </a:p>
        </p:txBody>
      </p:sp>
      <p:sp>
        <p:nvSpPr>
          <p:cNvPr id="14" name="Card"/>
          <p:cNvSpPr/>
          <p:nvPr/>
        </p:nvSpPr>
        <p:spPr>
          <a:xfrm>
            <a:off x="457200" y="3831336"/>
            <a:ext cx="3931920" cy="621792"/>
          </a:xfrm>
          <a:prstGeom prst="roundRect">
            <a:avLst>
              <a:gd name="adj" fmla="val 17647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8862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review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1422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 law and community rules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1280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study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754880" y="1764792"/>
            <a:ext cx="292608" cy="292608"/>
          </a:xfrm>
          <a:prstGeom prst="ellipse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54880" y="1764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212080" y="1691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Technical: 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common software on one ordinary computer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2331720"/>
            <a:ext cx="292608" cy="292608"/>
          </a:xfrm>
          <a:prstGeom prst="ellipse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54880" y="2331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212080" y="225856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Economic: 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$135 for hosting and a domain for a year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2898648"/>
            <a:ext cx="292608" cy="292608"/>
          </a:xfrm>
          <a:prstGeom prst="ellipse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54880" y="2898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212080" y="282549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Operational: 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already use WhatsApp and browsers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54880" y="3465576"/>
            <a:ext cx="292608" cy="292608"/>
          </a:xfrm>
          <a:prstGeom prst="ellipse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54880" y="3465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212080" y="339242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Schedule: 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tested, 180 tests passing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54880" y="4032504"/>
            <a:ext cx="292608" cy="292608"/>
          </a:xfrm>
          <a:prstGeom prst="ellipse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754880" y="4032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212080" y="395935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Legal: </a:t>
            </a:r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Hashed passwords, role limits, audit log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B5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METHODS USED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the system</a:t>
            </a:r>
            <a:endParaRPr lang="en-US" sz="3200" dirty="0"/>
          </a:p>
        </p:txBody>
      </p:sp>
      <p:pic>
        <p:nvPicPr>
          <p:cNvPr id="4" name="Context diagram" descr="C:/Users/Kali/Documents/GitHub/Neihbourhood Watch/docs/diagrams/dfd_level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4937760" cy="302666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3891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diagram (DFD level 0)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669280" y="1325880"/>
            <a:ext cx="3017520" cy="685800"/>
          </a:xfrm>
          <a:prstGeom prst="roundRect">
            <a:avLst>
              <a:gd name="adj" fmla="val 16000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06440" y="13898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806440" y="16733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0, 1 and 2 show how data moves</a:t>
            </a:r>
            <a:endParaRPr lang="en-US" sz="1100" dirty="0"/>
          </a:p>
        </p:txBody>
      </p:sp>
      <p:sp>
        <p:nvSpPr>
          <p:cNvPr id="9" name="Card"/>
          <p:cNvSpPr/>
          <p:nvPr/>
        </p:nvSpPr>
        <p:spPr>
          <a:xfrm>
            <a:off x="5669280" y="2103120"/>
            <a:ext cx="3017520" cy="685800"/>
          </a:xfrm>
          <a:prstGeom prst="roundRect">
            <a:avLst>
              <a:gd name="adj" fmla="val 16000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806440" y="21671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diagrams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806440" y="24505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case, class, sequence, state, activity</a:t>
            </a:r>
            <a:endParaRPr lang="en-US" sz="1100" dirty="0"/>
          </a:p>
        </p:txBody>
      </p:sp>
      <p:sp>
        <p:nvSpPr>
          <p:cNvPr id="12" name="Card"/>
          <p:cNvSpPr/>
          <p:nvPr/>
        </p:nvSpPr>
        <p:spPr>
          <a:xfrm>
            <a:off x="5669280" y="2880360"/>
            <a:ext cx="3017520" cy="685800"/>
          </a:xfrm>
          <a:prstGeom prst="roundRect">
            <a:avLst>
              <a:gd name="adj" fmla="val 16000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806440" y="29443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806440" y="32278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relationship diagrams, UUID keys, soft delete</a:t>
            </a:r>
            <a:endParaRPr lang="en-US" sz="1100" dirty="0"/>
          </a:p>
        </p:txBody>
      </p:sp>
      <p:sp>
        <p:nvSpPr>
          <p:cNvPr id="15" name="Card"/>
          <p:cNvSpPr/>
          <p:nvPr/>
        </p:nvSpPr>
        <p:spPr>
          <a:xfrm>
            <a:off x="5669280" y="3657600"/>
            <a:ext cx="3017520" cy="685800"/>
          </a:xfrm>
          <a:prstGeom prst="roundRect">
            <a:avLst>
              <a:gd name="adj" fmla="val 16000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806440" y="3721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design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806440" y="40050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web UI and Flutter mobile app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B5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METHODS USED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and technology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286000" cy="822960"/>
          </a:xfrm>
          <a:prstGeom prst="roundRect">
            <a:avLst>
              <a:gd name="adj" fmla="val 11111"/>
            </a:avLst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website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+ Tailwind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2286000" cy="822960"/>
          </a:xfrm>
          <a:prstGeom prst="roundRect">
            <a:avLst>
              <a:gd name="adj" fmla="val 11111"/>
            </a:avLst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mobile app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and iOS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154680" y="1463040"/>
            <a:ext cx="2286000" cy="1828800"/>
          </a:xfrm>
          <a:prstGeom prst="roundRect">
            <a:avLst>
              <a:gd name="adj" fmla="val 5000"/>
            </a:avLst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46120" y="146304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 API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login, role-based access, OpenAPI docs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52160" y="1463040"/>
            <a:ext cx="2834640" cy="548640"/>
          </a:xfrm>
          <a:prstGeom prst="roundRect">
            <a:avLst>
              <a:gd name="adj" fmla="val 16667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0" y="1463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/ SQLite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852160" y="2103120"/>
            <a:ext cx="2834640" cy="548640"/>
          </a:xfrm>
          <a:prstGeom prst="roundRect">
            <a:avLst>
              <a:gd name="adj" fmla="val 16667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0" y="21031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/ file storage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video, audio evidence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852160" y="2743200"/>
            <a:ext cx="2834640" cy="548640"/>
          </a:xfrm>
          <a:prstGeom prst="roundRect">
            <a:avLst>
              <a:gd name="adj" fmla="val 16667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0" y="27432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+ Celery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jobs and codes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743200" y="21488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5440680" y="21488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Card"/>
          <p:cNvSpPr/>
          <p:nvPr/>
        </p:nvSpPr>
        <p:spPr>
          <a:xfrm>
            <a:off x="457200" y="3611880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36576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and Django 5.2, Django REST Framework, React 18, Flutter, Docker Compose. Security: SimpleJWT tokens, django-axes lockout, rate limits, MIME-checked uploads, audit log with IP and before/after snapshots.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B5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METHODS USED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system in action</a:t>
            </a:r>
            <a:endParaRPr lang="en-US" sz="3200" dirty="0"/>
          </a:p>
        </p:txBody>
      </p:sp>
      <p:pic>
        <p:nvPicPr>
          <p:cNvPr id="4" name="Incident list with filters" descr="C:/Users/Kali/Documents/GitHub/Neihbourhood Watch/docs/screenshots/ui_inciden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2651760" cy="165506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0815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list with filters</a:t>
            </a:r>
            <a:endParaRPr lang="en-US" sz="1200" dirty="0"/>
          </a:p>
        </p:txBody>
      </p:sp>
      <p:pic>
        <p:nvPicPr>
          <p:cNvPr id="6" name="Live map of incidents" descr="C:/Users/Kali/Documents/GitHub/Neihbourhood Watch/docs/screenshots/ui_map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46120" y="1371600"/>
            <a:ext cx="2651760" cy="165506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246120" y="30815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map of incidents</a:t>
            </a:r>
            <a:endParaRPr lang="en-US" sz="1200" dirty="0"/>
          </a:p>
        </p:txBody>
      </p:sp>
      <p:pic>
        <p:nvPicPr>
          <p:cNvPr id="8" name="SOS alert in progress" descr="C:/Users/Kali/Documents/GitHub/Neihbourhood Watch/docs/screenshots/ui_sos_activ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035040" y="1371600"/>
            <a:ext cx="2651760" cy="165506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035040" y="30815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alert in progress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457200" y="3520440"/>
            <a:ext cx="8229600" cy="1097280"/>
          </a:xfrm>
          <a:prstGeom prst="roundRect">
            <a:avLst>
              <a:gd name="adj" fmla="val 10000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640080" y="35844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life cycle: only valid steps are accepted and each change is audited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640080" y="3977640"/>
            <a:ext cx="1325880" cy="457200"/>
          </a:xfrm>
          <a:prstGeom prst="roundRect">
            <a:avLst>
              <a:gd name="adj" fmla="val 20000"/>
            </a:avLst>
          </a:prstGeom>
          <a:solidFill>
            <a:srgbClr val="0B1730"/>
          </a:solidFill>
          <a:ln w="12700">
            <a:solidFill>
              <a:srgbClr val="0B1730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40080" y="39776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965960" y="39776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2194560" y="3977640"/>
            <a:ext cx="1325880" cy="457200"/>
          </a:xfrm>
          <a:prstGeom prst="roundRect">
            <a:avLst>
              <a:gd name="adj" fmla="val 20000"/>
            </a:avLst>
          </a:prstGeom>
          <a:solidFill>
            <a:srgbClr val="0B1730"/>
          </a:solidFill>
          <a:ln w="12700">
            <a:solidFill>
              <a:srgbClr val="0B1730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2194560" y="39776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3520440" y="39776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3749040" y="3977640"/>
            <a:ext cx="1325880" cy="457200"/>
          </a:xfrm>
          <a:prstGeom prst="roundRect">
            <a:avLst>
              <a:gd name="adj" fmla="val 20000"/>
            </a:avLst>
          </a:prstGeom>
          <a:solidFill>
            <a:srgbClr val="0B1730"/>
          </a:solidFill>
          <a:ln w="12700">
            <a:solidFill>
              <a:srgbClr val="0B1730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3749040" y="39776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INVESTIGATING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5074920" y="39776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1" name="Shape 16"/>
          <p:cNvSpPr/>
          <p:nvPr/>
        </p:nvSpPr>
        <p:spPr>
          <a:xfrm>
            <a:off x="5303520" y="3977640"/>
            <a:ext cx="1325880" cy="457200"/>
          </a:xfrm>
          <a:prstGeom prst="roundRect">
            <a:avLst>
              <a:gd name="adj" fmla="val 20000"/>
            </a:avLst>
          </a:prstGeom>
          <a:solidFill>
            <a:srgbClr val="0B1730"/>
          </a:solidFill>
          <a:ln w="12700">
            <a:solidFill>
              <a:srgbClr val="0B1730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5303520" y="39776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6629400" y="39776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4" name="Shape 19"/>
          <p:cNvSpPr/>
          <p:nvPr/>
        </p:nvSpPr>
        <p:spPr>
          <a:xfrm>
            <a:off x="6858000" y="3977640"/>
            <a:ext cx="1325880" cy="457200"/>
          </a:xfrm>
          <a:prstGeom prst="roundRect">
            <a:avLst>
              <a:gd name="adj" fmla="val 20000"/>
            </a:avLst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6858000" y="39776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B5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METHODS USED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the system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2588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943600" y="13716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2B5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2194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run, 180 passed, 0 failed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274320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and API tests for login, codes, incidents, SOS and permissions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resident verifying an incident gets 403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150 MB video upload is rejected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cannot jump straight to Resolved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B5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BENEFITS AND FUTURE PLANS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to the community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457200" y="137160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5" name="Badge 1"/>
          <p:cNvSpPr/>
          <p:nvPr/>
        </p:nvSpPr>
        <p:spPr>
          <a:xfrm>
            <a:off x="594360" y="1508760"/>
            <a:ext cx="365760" cy="365760"/>
          </a:xfrm>
          <a:prstGeom prst="ellipse">
            <a:avLst/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9659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response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286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SOS shares live location every 20 seconds.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3246120" y="137160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10" name="Badge 2"/>
          <p:cNvSpPr/>
          <p:nvPr/>
        </p:nvSpPr>
        <p:spPr>
          <a:xfrm>
            <a:off x="3383280" y="1508760"/>
            <a:ext cx="365760" cy="365760"/>
          </a:xfrm>
          <a:prstGeom prst="ellipse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8328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19659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information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383280" y="2286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stay Pending until a coordinator verifies them.</a:t>
            </a:r>
            <a:endParaRPr lang="en-US" sz="1200" dirty="0"/>
          </a:p>
        </p:txBody>
      </p:sp>
      <p:sp>
        <p:nvSpPr>
          <p:cNvPr id="14" name="Card"/>
          <p:cNvSpPr/>
          <p:nvPr/>
        </p:nvSpPr>
        <p:spPr>
          <a:xfrm>
            <a:off x="6035040" y="137160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15" name="Badge 3"/>
          <p:cNvSpPr/>
          <p:nvPr/>
        </p:nvSpPr>
        <p:spPr>
          <a:xfrm>
            <a:off x="6172200" y="1508760"/>
            <a:ext cx="365760" cy="36576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7220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19659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kept safe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172200" y="2286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video and audio stored with the report.</a:t>
            </a:r>
            <a:endParaRPr lang="en-US" sz="1200" dirty="0"/>
          </a:p>
        </p:txBody>
      </p:sp>
      <p:sp>
        <p:nvSpPr>
          <p:cNvPr id="19" name="Card"/>
          <p:cNvSpPr/>
          <p:nvPr/>
        </p:nvSpPr>
        <p:spPr>
          <a:xfrm>
            <a:off x="457200" y="306324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20" name="Badge 4"/>
          <p:cNvSpPr/>
          <p:nvPr/>
        </p:nvSpPr>
        <p:spPr>
          <a:xfrm>
            <a:off x="594360" y="3200400"/>
            <a:ext cx="365760" cy="365760"/>
          </a:xfrm>
          <a:prstGeom prst="ellipse">
            <a:avLst/>
          </a:prstGeom>
          <a:solidFill>
            <a:srgbClr val="6E56CF"/>
          </a:solidFill>
          <a:ln w="12700">
            <a:solidFill>
              <a:srgbClr val="6E56C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36576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3977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shows who handled what, and when.</a:t>
            </a:r>
            <a:endParaRPr lang="en-US" sz="1200" dirty="0"/>
          </a:p>
        </p:txBody>
      </p:sp>
      <p:sp>
        <p:nvSpPr>
          <p:cNvPr id="24" name="Card"/>
          <p:cNvSpPr/>
          <p:nvPr/>
        </p:nvSpPr>
        <p:spPr>
          <a:xfrm>
            <a:off x="3246120" y="306324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25" name="Badge 5"/>
          <p:cNvSpPr/>
          <p:nvPr/>
        </p:nvSpPr>
        <p:spPr>
          <a:xfrm>
            <a:off x="3383280" y="3200400"/>
            <a:ext cx="365760" cy="36576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38328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383280" y="36576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feedback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3383280" y="3977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see each step from Pending to Closed.</a:t>
            </a:r>
            <a:endParaRPr lang="en-US" sz="1200" dirty="0"/>
          </a:p>
        </p:txBody>
      </p:sp>
      <p:sp>
        <p:nvSpPr>
          <p:cNvPr id="29" name="Card"/>
          <p:cNvSpPr/>
          <p:nvPr/>
        </p:nvSpPr>
        <p:spPr>
          <a:xfrm>
            <a:off x="6035040" y="306324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30" name="Badge 6"/>
          <p:cNvSpPr/>
          <p:nvPr/>
        </p:nvSpPr>
        <p:spPr>
          <a:xfrm>
            <a:off x="6172200" y="3200400"/>
            <a:ext cx="365760" cy="365760"/>
          </a:xfrm>
          <a:prstGeom prst="ellipse">
            <a:avLst/>
          </a:prstGeom>
          <a:solidFill>
            <a:srgbClr val="0B1730"/>
          </a:solidFill>
          <a:ln w="12700">
            <a:solidFill>
              <a:srgbClr val="0B173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17220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172200" y="36576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172200" y="3977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software, about $135 a year to run.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B5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BENEFITS AND FUTURE PLANS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plans</a:t>
            </a:r>
            <a:endParaRPr lang="en-US" sz="3200" dirty="0"/>
          </a:p>
        </p:txBody>
      </p:sp>
      <p:sp>
        <p:nvSpPr>
          <p:cNvPr id="4" name="Badge 1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691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200" dirty="0"/>
          </a:p>
        </p:txBody>
      </p:sp>
      <p:sp>
        <p:nvSpPr>
          <p:cNvPr id="7" name="Card"/>
          <p:cNvSpPr/>
          <p:nvPr/>
        </p:nvSpPr>
        <p:spPr>
          <a:xfrm>
            <a:off x="457200" y="2377440"/>
            <a:ext cx="1965960" cy="2011680"/>
          </a:xfrm>
          <a:prstGeom prst="roundRect">
            <a:avLst>
              <a:gd name="adj" fmla="val 5581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5146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SMS and push messages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320040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real SMS and push providers (currently simulated).</a:t>
            </a:r>
            <a:endParaRPr lang="en-US" sz="1200" dirty="0"/>
          </a:p>
        </p:txBody>
      </p:sp>
      <p:sp>
        <p:nvSpPr>
          <p:cNvPr id="10" name="Badge 2"/>
          <p:cNvSpPr/>
          <p:nvPr/>
        </p:nvSpPr>
        <p:spPr>
          <a:xfrm>
            <a:off x="2651760" y="1600200"/>
            <a:ext cx="457200" cy="457200"/>
          </a:xfrm>
          <a:prstGeom prst="ellipse">
            <a:avLst/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5176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200400" y="1691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2560320" y="2377440"/>
            <a:ext cx="1965960" cy="2011680"/>
          </a:xfrm>
          <a:prstGeom prst="roundRect">
            <a:avLst>
              <a:gd name="adj" fmla="val 5581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97480" y="25146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permissions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320040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permission table in every view.</a:t>
            </a:r>
            <a:endParaRPr lang="en-US" sz="1200" dirty="0"/>
          </a:p>
        </p:txBody>
      </p:sp>
      <p:sp>
        <p:nvSpPr>
          <p:cNvPr id="16" name="Badge 3"/>
          <p:cNvSpPr/>
          <p:nvPr/>
        </p:nvSpPr>
        <p:spPr>
          <a:xfrm>
            <a:off x="4754880" y="1600200"/>
            <a:ext cx="457200" cy="457200"/>
          </a:xfrm>
          <a:prstGeom prst="ellipse">
            <a:avLst/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548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303520" y="1691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200" dirty="0"/>
          </a:p>
        </p:txBody>
      </p:sp>
      <p:sp>
        <p:nvSpPr>
          <p:cNvPr id="19" name="Card"/>
          <p:cNvSpPr/>
          <p:nvPr/>
        </p:nvSpPr>
        <p:spPr>
          <a:xfrm>
            <a:off x="4663440" y="2377440"/>
            <a:ext cx="1965960" cy="2011680"/>
          </a:xfrm>
          <a:prstGeom prst="roundRect">
            <a:avLst>
              <a:gd name="adj" fmla="val 5581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00600" y="25146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tests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800600" y="320040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tests for analytics, audit and the website.</a:t>
            </a:r>
            <a:endParaRPr lang="en-US" sz="1200" dirty="0"/>
          </a:p>
        </p:txBody>
      </p:sp>
      <p:sp>
        <p:nvSpPr>
          <p:cNvPr id="22" name="Badge 4"/>
          <p:cNvSpPr/>
          <p:nvPr/>
        </p:nvSpPr>
        <p:spPr>
          <a:xfrm>
            <a:off x="6858000" y="1600200"/>
            <a:ext cx="457200" cy="457200"/>
          </a:xfrm>
          <a:prstGeom prst="ellipse">
            <a:avLst/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406640" y="1691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200" dirty="0"/>
          </a:p>
        </p:txBody>
      </p:sp>
      <p:sp>
        <p:nvSpPr>
          <p:cNvPr id="25" name="Card"/>
          <p:cNvSpPr/>
          <p:nvPr/>
        </p:nvSpPr>
        <p:spPr>
          <a:xfrm>
            <a:off x="6766560" y="2377440"/>
            <a:ext cx="1965960" cy="2011680"/>
          </a:xfrm>
          <a:prstGeom prst="roundRect">
            <a:avLst>
              <a:gd name="adj" fmla="val 5581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03720" y="25146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Shona and Ndebele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903720" y="320040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local languages so more residents can use it.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2860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F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to report incidents, keep evidence and raise an SOS, with every step recorded.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474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HW Night">
  <a:themeElements>
    <a:clrScheme name="NHW Night">
      <a:dk1>
        <a:srgbClr val="0B1730"/>
      </a:dk1>
      <a:lt1>
        <a:srgbClr val="FFFFFF"/>
      </a:lt1>
      <a:dk2>
        <a:srgbClr val="12294D"/>
      </a:dk2>
      <a:lt2>
        <a:srgbClr val="EAF2F8"/>
      </a:lt2>
      <a:accent1>
        <a:srgbClr val="12B5CB"/>
      </a:accent1>
      <a:accent2>
        <a:srgbClr val="F5A524"/>
      </a:accent2>
      <a:accent3>
        <a:srgbClr val="E5484D"/>
      </a:accent3>
      <a:accent4>
        <a:srgbClr val="2FBF71"/>
      </a:accent4>
      <a:accent5>
        <a:srgbClr val="6E56CF"/>
      </a:accent5>
      <a:accent6>
        <a:srgbClr val="5B6B84"/>
      </a:accent6>
      <a:hlink>
        <a:srgbClr val="12B5CB"/>
      </a:hlink>
      <a:folHlink>
        <a:srgbClr val="6E56CF"/>
      </a:folHlink>
    </a:clrScheme>
    <a:fontScheme name="NHW Nigh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Neighbourhood Watch Zimbabwe - Project Presentation</dc:title>
  <dc:subject>PptxGenJS Presentation</dc:subject>
  <dc:creator>Kwekwe Polytechnic, ND3 Information Technology</dc:creator>
  <cp:lastModifiedBy>Kwekwe Polytechnic, ND3 Information Technology</cp:lastModifiedBy>
  <cp:revision>1</cp:revision>
  <dcterms:created xsi:type="dcterms:W3CDTF">2026-10-15T20:22:24Z</dcterms:created>
  <dcterms:modified xsi:type="dcterms:W3CDTF">2026-10-15T20:22:24Z</dcterms:modified>
</cp:coreProperties>
</file>