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troduction" id="{3B2F061D-6E9B-5DDB-6C10-057ED40574DE}">
          <p14:sldIdLst>
            <p14:sldId id="256"/>
            <p14:sldId id="257"/>
          </p14:sldIdLst>
        </p14:section>
        <p14:section name="2 Background" id="{41417B5B-6089-BFC7-6981-C73F1BD5C9C6}">
          <p14:sldIdLst>
            <p14:sldId id="258"/>
          </p14:sldIdLst>
        </p14:section>
        <p14:section name="3 Problem Statement" id="{081589B2-0224-1361-4E44-CAB941A51220}">
          <p14:sldIdLst>
            <p14:sldId id="259"/>
          </p14:sldIdLst>
        </p14:section>
        <p14:section name="4 Objectives" id="{2E4BB542-A52F-94A9-93C7-96D3F021A061}">
          <p14:sldIdLst>
            <p14:sldId id="260"/>
          </p14:sldIdLst>
        </p14:section>
        <p14:section name="5 Methods Used" id="{F29A1743-2668-DB6D-BCBB-94AF375A37ED}">
          <p14:sldIdLst>
            <p14:sldId id="261"/>
            <p14:sldId id="262"/>
          </p14:sldIdLst>
        </p14:section>
        <p14:section name="6 Benefits and Future Plans" id="{E23199C0-BC1B-2B49-8608-1D46F6E51907}">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396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day. My project is Neighbourhood Watch Zimbabwe. It is a website where residents report crime and send emergency alerts, and where coordinators and police respond. I will go through the background, the problem, the objectives, how I built it, and the benefits. (Fill in your name, registration number and supervisor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system does three simple things. One, a resident reports a crime with the exact place and a photo. Two, a coordinator checks the report is true and passes it to the police. Three, if someone is in danger, they press SOS and their live location is shared. Users have one of five roles: resident, block captain, coordinator, police officer and system administrator.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neighbourhood watch is a group of volunteers who look after their area with the police and block captains. Today they report crime through WhatsApp groups, paper books and phone calls. This works a little, but it has serious weaknesses.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creates three main problems. First, reports get lost. They have no exact location and nobody records who handled them. Second, nobody can check whether a report is true, so rumours spread, and evidence stays on personal phones. Third, there is no fast emergency alert, so help arrives late.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set four objectives. One, users can register with an emailed code and log in safely. Two, residents can report incidents with photo, video or audio evidence. Three, residents can send an SOS with live location. Four, every important action is recorded in an audit log. Each objective is tested: for example 56 tests cover registration and login, and 22 cover SOS.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worked in four steps. Ask: I used interviews, questionnaires, observation and document review to learn what people need. Design: I drew data flow diagrams, UML diagrams and a database design. Build: the server uses Python with Django, and the website uses React. Test: 180 automated tests pass, covering login, SOS, notifications and permissions. I also checked the project is feasible: it uses free software and costs about 135 US dollars a year to host.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slide live if you can. Say: A resident reports an incident and sees it on the map. The report moves through five steps: Pending, Verified, Investigating, Resolved and Closed. Only a coordinator can verify it, and the system will not allow a step to be skipped. If a resident is in danger, the SOS screen sends their location every 20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benefits are faster help in an emergency, reports that people can trust because a coordinator checks them, safe storage of evidence, and low cost. For the future, I plan to connect real SMS and push messages, which are simulated now, add Shona and Ndebele, and add more automated tests.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730"/>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F"/>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F"/>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ome screenshot" descr="C:/Users/Kali/Documents/GitHub/Neihbourhood Watch/docs/screenshots/ui_home.png"/>
          <p:cNvPicPr>
            <a:picLocks noChangeAspect="1"/>
          </p:cNvPicPr>
          <p:nvPr/>
        </p:nvPicPr>
        <p:blipFill>
          <a:blip r:embed="rId3"/>
          <a:srcRect/>
          <a:stretch/>
        </p:blipFill>
        <p:spPr>
          <a:xfrm>
            <a:off x="4937760" y="640080"/>
            <a:ext cx="3749040" cy="2340864"/>
          </a:xfrm>
          <a:prstGeom prst="rect">
            <a:avLst/>
          </a:prstGeom>
        </p:spPr>
      </p:pic>
      <p:sp>
        <p:nvSpPr>
          <p:cNvPr id="3" name="Text 0"/>
          <p:cNvSpPr txBox="1"/>
          <p:nvPr/>
        </p:nvSpPr>
        <p:spPr>
          <a:xfrm>
            <a:off x="457200" y="548640"/>
            <a:ext cx="4206240" cy="274320"/>
          </a:xfrm>
          <a:prstGeom prst="rect">
            <a:avLst/>
          </a:prstGeom>
          <a:noFill/>
          <a:ln/>
        </p:spPr>
        <p:txBody>
          <a:bodyPr wrap="square" lIns="0" tIns="0" rIns="0" bIns="0" rtlCol="0" anchor="t"/>
          <a:lstStyle/>
          <a:p>
            <a:pPr marL="0" indent="0">
              <a:buNone/>
            </a:pPr>
            <a:r>
              <a:rPr lang="en-US" sz="1400" b="1" kern="0" spc="300" dirty="0">
                <a:solidFill>
                  <a:srgbClr val="12B5CB"/>
                </a:solidFill>
                <a:latin typeface="Calibri" pitchFamily="34" charset="0"/>
                <a:ea typeface="Calibri" pitchFamily="34" charset="-122"/>
                <a:cs typeface="Calibri" pitchFamily="34" charset="-120"/>
              </a:rPr>
              <a:t>PROJECT PRESENTATION</a:t>
            </a:r>
            <a:endParaRPr lang="en-US" sz="1400" dirty="0"/>
          </a:p>
        </p:txBody>
      </p:sp>
      <p:sp>
        <p:nvSpPr>
          <p:cNvPr id="4" name="Title"/>
          <p:cNvSpPr txBox="1"/>
          <p:nvPr/>
        </p:nvSpPr>
        <p:spPr>
          <a:xfrm>
            <a:off x="457200" y="914400"/>
            <a:ext cx="4297680" cy="137160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Neighbourhood Watch Zimbabwe</a:t>
            </a:r>
            <a:endParaRPr lang="en-US" sz="3600" dirty="0"/>
          </a:p>
        </p:txBody>
      </p:sp>
      <p:sp>
        <p:nvSpPr>
          <p:cNvPr id="5" name="Text 2"/>
          <p:cNvSpPr txBox="1"/>
          <p:nvPr/>
        </p:nvSpPr>
        <p:spPr>
          <a:xfrm>
            <a:off x="457200" y="2377440"/>
            <a:ext cx="4206240" cy="731520"/>
          </a:xfrm>
          <a:prstGeom prst="rect">
            <a:avLst/>
          </a:prstGeom>
          <a:noFill/>
          <a:ln/>
        </p:spPr>
        <p:txBody>
          <a:bodyPr wrap="square" lIns="0" tIns="0" rIns="0" bIns="0" rtlCol="0" anchor="t"/>
          <a:lstStyle/>
          <a:p>
            <a:pPr marL="0" indent="0">
              <a:buNone/>
            </a:pPr>
            <a:r>
              <a:rPr lang="en-US" sz="1800" dirty="0">
                <a:solidFill>
                  <a:srgbClr val="BFD0E6"/>
                </a:solidFill>
                <a:latin typeface="Calibri" pitchFamily="34" charset="0"/>
                <a:ea typeface="Calibri" pitchFamily="34" charset="-122"/>
                <a:cs typeface="Calibri" pitchFamily="34" charset="-120"/>
              </a:rPr>
              <a:t>A website for reporting crime and sending emergency alerts</a:t>
            </a:r>
            <a:endParaRPr lang="en-US" sz="1800" dirty="0"/>
          </a:p>
        </p:txBody>
      </p:sp>
      <p:sp>
        <p:nvSpPr>
          <p:cNvPr id="6" name="Card"/>
          <p:cNvSpPr/>
          <p:nvPr/>
        </p:nvSpPr>
        <p:spPr>
          <a:xfrm>
            <a:off x="457200" y="3383280"/>
            <a:ext cx="8229600" cy="1188720"/>
          </a:xfrm>
          <a:prstGeom prst="roundRect">
            <a:avLst>
              <a:gd name="adj" fmla="val 9231"/>
            </a:avLst>
          </a:prstGeom>
          <a:solidFill>
            <a:srgbClr val="12294D"/>
          </a:solidFill>
          <a:ln w="12700">
            <a:solidFill>
              <a:srgbClr val="12294D"/>
            </a:solidFill>
            <a:prstDash val="solid"/>
          </a:ln>
        </p:spPr>
        <p:txBody>
          <a:bodyPr/>
          <a:lstStyle/>
          <a:p>
            <a:endParaRPr lang="en-ZW"/>
          </a:p>
        </p:txBody>
      </p:sp>
      <p:sp>
        <p:nvSpPr>
          <p:cNvPr id="7" name="Text 4"/>
          <p:cNvSpPr txBox="1"/>
          <p:nvPr/>
        </p:nvSpPr>
        <p:spPr>
          <a:xfrm>
            <a:off x="685800" y="3520440"/>
            <a:ext cx="1280160" cy="274320"/>
          </a:xfrm>
          <a:prstGeom prst="rect">
            <a:avLst/>
          </a:prstGeom>
          <a:noFill/>
          <a:ln/>
        </p:spPr>
        <p:txBody>
          <a:bodyPr wrap="square" lIns="0" tIns="0" rIns="0" bIns="0" rtlCol="0" anchor="t"/>
          <a:lstStyle/>
          <a:p>
            <a:pPr marL="0" indent="0">
              <a:buNone/>
            </a:pPr>
            <a:r>
              <a:rPr lang="en-US" sz="1500" b="1" dirty="0">
                <a:solidFill>
                  <a:srgbClr val="F5A524"/>
                </a:solidFill>
                <a:latin typeface="Calibri" pitchFamily="34" charset="0"/>
                <a:ea typeface="Calibri" pitchFamily="34" charset="-122"/>
                <a:cs typeface="Calibri" pitchFamily="34" charset="-120"/>
              </a:rPr>
              <a:t>Candidate</a:t>
            </a:r>
            <a:endParaRPr lang="en-US" sz="1500" dirty="0"/>
          </a:p>
        </p:txBody>
      </p:sp>
      <p:sp>
        <p:nvSpPr>
          <p:cNvPr id="8" name="Text 5"/>
          <p:cNvSpPr txBox="1"/>
          <p:nvPr/>
        </p:nvSpPr>
        <p:spPr>
          <a:xfrm>
            <a:off x="2011680" y="3520440"/>
            <a:ext cx="6492240" cy="27432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Noble Mugadza</a:t>
            </a:r>
            <a:endParaRPr lang="en-US" sz="1600" dirty="0"/>
          </a:p>
        </p:txBody>
      </p:sp>
      <p:sp>
        <p:nvSpPr>
          <p:cNvPr id="9" name="Text 6"/>
          <p:cNvSpPr txBox="1"/>
          <p:nvPr/>
        </p:nvSpPr>
        <p:spPr>
          <a:xfrm>
            <a:off x="685800" y="3858768"/>
            <a:ext cx="1280160" cy="274320"/>
          </a:xfrm>
          <a:prstGeom prst="rect">
            <a:avLst/>
          </a:prstGeom>
          <a:noFill/>
          <a:ln/>
        </p:spPr>
        <p:txBody>
          <a:bodyPr wrap="square" lIns="0" tIns="0" rIns="0" bIns="0" rtlCol="0" anchor="t"/>
          <a:lstStyle/>
          <a:p>
            <a:pPr marL="0" indent="0">
              <a:buNone/>
            </a:pPr>
            <a:r>
              <a:rPr lang="en-US" sz="1500" b="1" dirty="0">
                <a:solidFill>
                  <a:srgbClr val="F5A524"/>
                </a:solidFill>
                <a:latin typeface="Calibri" pitchFamily="34" charset="0"/>
                <a:ea typeface="Calibri" pitchFamily="34" charset="-122"/>
                <a:cs typeface="Calibri" pitchFamily="34" charset="-120"/>
              </a:rPr>
              <a:t>Programme</a:t>
            </a:r>
            <a:endParaRPr lang="en-US" sz="1500" dirty="0"/>
          </a:p>
        </p:txBody>
      </p:sp>
      <p:sp>
        <p:nvSpPr>
          <p:cNvPr id="10" name="Text 7"/>
          <p:cNvSpPr txBox="1"/>
          <p:nvPr/>
        </p:nvSpPr>
        <p:spPr>
          <a:xfrm>
            <a:off x="2011680" y="3858768"/>
            <a:ext cx="6492240" cy="27432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ND Information Technology, Kwekwe Polytechnic</a:t>
            </a:r>
            <a:endParaRPr lang="en-US" sz="1600" dirty="0"/>
          </a:p>
        </p:txBody>
      </p:sp>
      <p:sp>
        <p:nvSpPr>
          <p:cNvPr id="11" name="Text 8"/>
          <p:cNvSpPr txBox="1"/>
          <p:nvPr/>
        </p:nvSpPr>
        <p:spPr>
          <a:xfrm>
            <a:off x="685800" y="4197096"/>
            <a:ext cx="1280160" cy="274320"/>
          </a:xfrm>
          <a:prstGeom prst="rect">
            <a:avLst/>
          </a:prstGeom>
          <a:noFill/>
          <a:ln/>
        </p:spPr>
        <p:txBody>
          <a:bodyPr wrap="square" lIns="0" tIns="0" rIns="0" bIns="0" rtlCol="0" anchor="t"/>
          <a:lstStyle/>
          <a:p>
            <a:pPr marL="0" indent="0">
              <a:buNone/>
            </a:pPr>
            <a:r>
              <a:rPr lang="en-US" sz="1500" b="1" dirty="0">
                <a:solidFill>
                  <a:srgbClr val="F5A524"/>
                </a:solidFill>
                <a:latin typeface="Calibri" pitchFamily="34" charset="0"/>
                <a:ea typeface="Calibri" pitchFamily="34" charset="-122"/>
                <a:cs typeface="Calibri" pitchFamily="34" charset="-120"/>
              </a:rPr>
              <a:t>Supervisor</a:t>
            </a:r>
            <a:endParaRPr lang="en-US" sz="1500" dirty="0"/>
          </a:p>
        </p:txBody>
      </p:sp>
      <p:sp>
        <p:nvSpPr>
          <p:cNvPr id="12" name="Text 9"/>
          <p:cNvSpPr txBox="1"/>
          <p:nvPr/>
        </p:nvSpPr>
        <p:spPr>
          <a:xfrm>
            <a:off x="2011680" y="4197096"/>
            <a:ext cx="6492240" cy="274320"/>
          </a:xfrm>
          <a:prstGeom prst="rect">
            <a:avLst/>
          </a:prstGeom>
          <a:noFill/>
          <a:ln/>
        </p:spPr>
        <p:txBody>
          <a:bodyPr wrap="square" lIns="0" tIns="0" rIns="0" bIns="0" rtlCol="0" anchor="t"/>
          <a:lstStyle/>
          <a:p>
            <a:pPr marL="0" indent="0">
              <a:buNone/>
            </a:pPr>
            <a:r>
              <a:rPr lang="en-US" sz="1600" dirty="0" err="1">
                <a:solidFill>
                  <a:srgbClr val="FFFFFF"/>
                </a:solidFill>
                <a:latin typeface="Calibri" pitchFamily="34" charset="0"/>
                <a:ea typeface="Calibri" pitchFamily="34" charset="-122"/>
                <a:cs typeface="Calibri" pitchFamily="34" charset="-120"/>
              </a:rPr>
              <a:t>Mr</a:t>
            </a:r>
            <a:r>
              <a:rPr lang="en-US" sz="1600" dirty="0">
                <a:solidFill>
                  <a:srgbClr val="FFFFFF"/>
                </a:solidFill>
                <a:latin typeface="Calibri" pitchFamily="34" charset="0"/>
                <a:ea typeface="Calibri" pitchFamily="34" charset="-122"/>
                <a:cs typeface="Calibri" pitchFamily="34" charset="-120"/>
              </a:rPr>
              <a:t> Hondo</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F"/>
                </a:solidFill>
                <a:latin typeface="Calibri"/>
                <a:ea typeface="Calibri"/>
                <a:cs typeface="Calibri"/>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1 INTRODUCTION</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What the system does</a:t>
            </a:r>
            <a:endParaRPr lang="en-US" sz="3600" dirty="0"/>
          </a:p>
        </p:txBody>
      </p:sp>
      <p:sp>
        <p:nvSpPr>
          <p:cNvPr id="4" name="Card"/>
          <p:cNvSpPr/>
          <p:nvPr/>
        </p:nvSpPr>
        <p:spPr>
          <a:xfrm>
            <a:off x="45720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5" name="Badge 1"/>
          <p:cNvSpPr/>
          <p:nvPr/>
        </p:nvSpPr>
        <p:spPr>
          <a:xfrm>
            <a:off x="685800" y="1783080"/>
            <a:ext cx="640080" cy="640080"/>
          </a:xfrm>
          <a:prstGeom prst="ellipse">
            <a:avLst/>
          </a:prstGeom>
          <a:solidFill>
            <a:srgbClr val="12B5CB"/>
          </a:solidFill>
          <a:ln w="12700">
            <a:solidFill>
              <a:srgbClr val="12B5CB"/>
            </a:solidFill>
            <a:prstDash val="solid"/>
          </a:ln>
        </p:spPr>
        <p:txBody>
          <a:bodyPr/>
          <a:lstStyle/>
          <a:p>
            <a:endParaRPr lang="en-ZW"/>
          </a:p>
        </p:txBody>
      </p:sp>
      <p:sp>
        <p:nvSpPr>
          <p:cNvPr id="6" name="Text 4"/>
          <p:cNvSpPr txBox="1"/>
          <p:nvPr/>
        </p:nvSpPr>
        <p:spPr>
          <a:xfrm>
            <a:off x="685800" y="17830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85800" y="2651760"/>
            <a:ext cx="219456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Report</a:t>
            </a:r>
            <a:endParaRPr lang="en-US" sz="2600" dirty="0"/>
          </a:p>
        </p:txBody>
      </p:sp>
      <p:sp>
        <p:nvSpPr>
          <p:cNvPr id="8" name="Text 6"/>
          <p:cNvSpPr txBox="1"/>
          <p:nvPr/>
        </p:nvSpPr>
        <p:spPr>
          <a:xfrm>
            <a:off x="685800" y="3200400"/>
            <a:ext cx="2240280" cy="1097280"/>
          </a:xfrm>
          <a:prstGeom prst="rect">
            <a:avLst/>
          </a:prstGeom>
          <a:noFill/>
          <a:ln/>
        </p:spPr>
        <p:txBody>
          <a:bodyPr wrap="square" lIns="0" tIns="0" rIns="0" bIns="0" rtlCol="0" anchor="t"/>
          <a:lstStyle/>
          <a:p>
            <a:pPr marL="0" indent="0">
              <a:buNone/>
            </a:pPr>
            <a:r>
              <a:rPr lang="en-US" sz="1700" dirty="0">
                <a:solidFill>
                  <a:srgbClr val="1B2A41"/>
                </a:solidFill>
                <a:latin typeface="Calibri" pitchFamily="34" charset="0"/>
                <a:ea typeface="Calibri" pitchFamily="34" charset="-122"/>
                <a:cs typeface="Calibri" pitchFamily="34" charset="-120"/>
              </a:rPr>
              <a:t>A resident reports a crime with a place on the map and a photo.</a:t>
            </a:r>
            <a:endParaRPr lang="en-US" sz="1700" dirty="0"/>
          </a:p>
        </p:txBody>
      </p:sp>
      <p:sp>
        <p:nvSpPr>
          <p:cNvPr id="9" name="Card"/>
          <p:cNvSpPr/>
          <p:nvPr/>
        </p:nvSpPr>
        <p:spPr>
          <a:xfrm>
            <a:off x="324612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10" name="Badge 2"/>
          <p:cNvSpPr/>
          <p:nvPr/>
        </p:nvSpPr>
        <p:spPr>
          <a:xfrm>
            <a:off x="3474720" y="1783080"/>
            <a:ext cx="640080" cy="640080"/>
          </a:xfrm>
          <a:prstGeom prst="ellipse">
            <a:avLst/>
          </a:prstGeom>
          <a:solidFill>
            <a:srgbClr val="F5A524"/>
          </a:solidFill>
          <a:ln w="12700">
            <a:solidFill>
              <a:srgbClr val="F5A524"/>
            </a:solidFill>
            <a:prstDash val="solid"/>
          </a:ln>
        </p:spPr>
        <p:txBody>
          <a:bodyPr/>
          <a:lstStyle/>
          <a:p>
            <a:endParaRPr lang="en-ZW"/>
          </a:p>
        </p:txBody>
      </p:sp>
      <p:sp>
        <p:nvSpPr>
          <p:cNvPr id="11" name="Text 9"/>
          <p:cNvSpPr txBox="1"/>
          <p:nvPr/>
        </p:nvSpPr>
        <p:spPr>
          <a:xfrm>
            <a:off x="3474720" y="1783080"/>
            <a:ext cx="640080" cy="64008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3474720" y="2651760"/>
            <a:ext cx="219456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Verify</a:t>
            </a:r>
            <a:endParaRPr lang="en-US" sz="2600" dirty="0"/>
          </a:p>
        </p:txBody>
      </p:sp>
      <p:sp>
        <p:nvSpPr>
          <p:cNvPr id="13" name="Text 11"/>
          <p:cNvSpPr txBox="1"/>
          <p:nvPr/>
        </p:nvSpPr>
        <p:spPr>
          <a:xfrm>
            <a:off x="3474720" y="3200400"/>
            <a:ext cx="2240280" cy="1097280"/>
          </a:xfrm>
          <a:prstGeom prst="rect">
            <a:avLst/>
          </a:prstGeom>
          <a:noFill/>
          <a:ln/>
        </p:spPr>
        <p:txBody>
          <a:bodyPr wrap="square" lIns="0" tIns="0" rIns="0" bIns="0" rtlCol="0" anchor="t"/>
          <a:lstStyle/>
          <a:p>
            <a:pPr marL="0" indent="0">
              <a:buNone/>
            </a:pPr>
            <a:r>
              <a:rPr lang="en-US" sz="1700" dirty="0">
                <a:solidFill>
                  <a:srgbClr val="1B2A41"/>
                </a:solidFill>
                <a:latin typeface="Calibri" pitchFamily="34" charset="0"/>
                <a:ea typeface="Calibri" pitchFamily="34" charset="-122"/>
                <a:cs typeface="Calibri" pitchFamily="34" charset="-120"/>
              </a:rPr>
              <a:t>A coordinator checks the report and sends it to police.</a:t>
            </a:r>
            <a:endParaRPr lang="en-US" sz="1700" dirty="0"/>
          </a:p>
        </p:txBody>
      </p:sp>
      <p:sp>
        <p:nvSpPr>
          <p:cNvPr id="14" name="Card"/>
          <p:cNvSpPr/>
          <p:nvPr/>
        </p:nvSpPr>
        <p:spPr>
          <a:xfrm>
            <a:off x="603504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15" name="Badge 3"/>
          <p:cNvSpPr/>
          <p:nvPr/>
        </p:nvSpPr>
        <p:spPr>
          <a:xfrm>
            <a:off x="6263640" y="1783080"/>
            <a:ext cx="640080" cy="640080"/>
          </a:xfrm>
          <a:prstGeom prst="ellipse">
            <a:avLst/>
          </a:prstGeom>
          <a:solidFill>
            <a:srgbClr val="E5484D"/>
          </a:solidFill>
          <a:ln w="12700">
            <a:solidFill>
              <a:srgbClr val="E5484D"/>
            </a:solidFill>
            <a:prstDash val="solid"/>
          </a:ln>
        </p:spPr>
        <p:txBody>
          <a:bodyPr/>
          <a:lstStyle/>
          <a:p>
            <a:endParaRPr lang="en-ZW"/>
          </a:p>
        </p:txBody>
      </p:sp>
      <p:sp>
        <p:nvSpPr>
          <p:cNvPr id="16" name="Text 14"/>
          <p:cNvSpPr txBox="1"/>
          <p:nvPr/>
        </p:nvSpPr>
        <p:spPr>
          <a:xfrm>
            <a:off x="6263640" y="17830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263640" y="2651760"/>
            <a:ext cx="219456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Alert</a:t>
            </a:r>
            <a:endParaRPr lang="en-US" sz="2600" dirty="0"/>
          </a:p>
        </p:txBody>
      </p:sp>
      <p:sp>
        <p:nvSpPr>
          <p:cNvPr id="18" name="Text 16"/>
          <p:cNvSpPr txBox="1"/>
          <p:nvPr/>
        </p:nvSpPr>
        <p:spPr>
          <a:xfrm>
            <a:off x="6263640" y="3200400"/>
            <a:ext cx="2240280" cy="1097280"/>
          </a:xfrm>
          <a:prstGeom prst="rect">
            <a:avLst/>
          </a:prstGeom>
          <a:noFill/>
          <a:ln/>
        </p:spPr>
        <p:txBody>
          <a:bodyPr wrap="square" lIns="0" tIns="0" rIns="0" bIns="0" rtlCol="0" anchor="t"/>
          <a:lstStyle/>
          <a:p>
            <a:pPr marL="0" indent="0">
              <a:buNone/>
            </a:pPr>
            <a:r>
              <a:rPr lang="en-US" sz="1700" dirty="0">
                <a:solidFill>
                  <a:srgbClr val="1B2A41"/>
                </a:solidFill>
                <a:latin typeface="Calibri" pitchFamily="34" charset="0"/>
                <a:ea typeface="Calibri" pitchFamily="34" charset="-122"/>
                <a:cs typeface="Calibri" pitchFamily="34" charset="-120"/>
              </a:rPr>
              <a:t>In danger? One SOS button shares live location.</a:t>
            </a:r>
            <a:endParaRPr lang="en-US" sz="17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2 BACKGROUND</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How it works today</a:t>
            </a:r>
            <a:endParaRPr lang="en-US" sz="3600" dirty="0"/>
          </a:p>
        </p:txBody>
      </p:sp>
      <p:sp>
        <p:nvSpPr>
          <p:cNvPr id="4" name="Card"/>
          <p:cNvSpPr/>
          <p:nvPr/>
        </p:nvSpPr>
        <p:spPr>
          <a:xfrm>
            <a:off x="457200" y="1554480"/>
            <a:ext cx="2651760" cy="2011680"/>
          </a:xfrm>
          <a:prstGeom prst="roundRect">
            <a:avLst>
              <a:gd name="adj" fmla="val 5455"/>
            </a:avLst>
          </a:prstGeom>
          <a:solidFill>
            <a:srgbClr val="EAF2F8"/>
          </a:solidFill>
          <a:ln w="12700">
            <a:solidFill>
              <a:srgbClr val="EAF2F8"/>
            </a:solidFill>
            <a:prstDash val="solid"/>
          </a:ln>
        </p:spPr>
        <p:txBody>
          <a:bodyPr/>
          <a:lstStyle/>
          <a:p>
            <a:endParaRPr lang="en-ZW"/>
          </a:p>
        </p:txBody>
      </p:sp>
      <p:sp>
        <p:nvSpPr>
          <p:cNvPr id="5" name="Text 3"/>
          <p:cNvSpPr txBox="1"/>
          <p:nvPr/>
        </p:nvSpPr>
        <p:spPr>
          <a:xfrm>
            <a:off x="685800" y="1828800"/>
            <a:ext cx="2240280" cy="822960"/>
          </a:xfrm>
          <a:prstGeom prst="rect">
            <a:avLst/>
          </a:prstGeom>
          <a:noFill/>
          <a:ln/>
        </p:spPr>
        <p:txBody>
          <a:bodyPr wrap="square" lIns="0" tIns="0" rIns="0" bIns="0" rtlCol="0" anchor="t"/>
          <a:lstStyle/>
          <a:p>
            <a:pPr marL="0" indent="0">
              <a:buNone/>
            </a:pPr>
            <a:r>
              <a:rPr lang="en-US" sz="2400" b="1" dirty="0">
                <a:solidFill>
                  <a:srgbClr val="0B1730"/>
                </a:solidFill>
                <a:latin typeface="Cambria" pitchFamily="34" charset="0"/>
                <a:ea typeface="Cambria" pitchFamily="34" charset="-122"/>
                <a:cs typeface="Cambria" pitchFamily="34" charset="-120"/>
              </a:rPr>
              <a:t>WhatsApp groups</a:t>
            </a:r>
            <a:endParaRPr lang="en-US" sz="2400" dirty="0"/>
          </a:p>
        </p:txBody>
      </p:sp>
      <p:sp>
        <p:nvSpPr>
          <p:cNvPr id="6" name="Text 4"/>
          <p:cNvSpPr txBox="1"/>
          <p:nvPr/>
        </p:nvSpPr>
        <p:spPr>
          <a:xfrm>
            <a:off x="685800" y="2743200"/>
            <a:ext cx="2240280" cy="731520"/>
          </a:xfrm>
          <a:prstGeom prst="rect">
            <a:avLst/>
          </a:prstGeom>
          <a:noFill/>
          <a:ln/>
        </p:spPr>
        <p:txBody>
          <a:bodyPr wrap="square" lIns="0" tIns="0" rIns="0" bIns="0" rtlCol="0" anchor="t"/>
          <a:lstStyle/>
          <a:p>
            <a:pPr marL="0" indent="0">
              <a:buNone/>
            </a:pPr>
            <a:r>
              <a:rPr lang="en-US" sz="1700" dirty="0">
                <a:solidFill>
                  <a:srgbClr val="5B6B84"/>
                </a:solidFill>
                <a:latin typeface="Calibri" pitchFamily="34" charset="0"/>
                <a:ea typeface="Calibri" pitchFamily="34" charset="-122"/>
                <a:cs typeface="Calibri" pitchFamily="34" charset="-120"/>
              </a:rPr>
              <a:t>Messages get buried</a:t>
            </a:r>
            <a:endParaRPr lang="en-US" sz="1700" dirty="0"/>
          </a:p>
        </p:txBody>
      </p:sp>
      <p:sp>
        <p:nvSpPr>
          <p:cNvPr id="7" name="Card"/>
          <p:cNvSpPr/>
          <p:nvPr/>
        </p:nvSpPr>
        <p:spPr>
          <a:xfrm>
            <a:off x="3246120" y="1554480"/>
            <a:ext cx="2651760" cy="2011680"/>
          </a:xfrm>
          <a:prstGeom prst="roundRect">
            <a:avLst>
              <a:gd name="adj" fmla="val 5455"/>
            </a:avLst>
          </a:prstGeom>
          <a:solidFill>
            <a:srgbClr val="EAF2F8"/>
          </a:solidFill>
          <a:ln w="12700">
            <a:solidFill>
              <a:srgbClr val="EAF2F8"/>
            </a:solidFill>
            <a:prstDash val="solid"/>
          </a:ln>
        </p:spPr>
        <p:txBody>
          <a:bodyPr/>
          <a:lstStyle/>
          <a:p>
            <a:endParaRPr lang="en-ZW"/>
          </a:p>
        </p:txBody>
      </p:sp>
      <p:sp>
        <p:nvSpPr>
          <p:cNvPr id="8" name="Text 6"/>
          <p:cNvSpPr txBox="1"/>
          <p:nvPr/>
        </p:nvSpPr>
        <p:spPr>
          <a:xfrm>
            <a:off x="3474720" y="1828800"/>
            <a:ext cx="2240280" cy="822960"/>
          </a:xfrm>
          <a:prstGeom prst="rect">
            <a:avLst/>
          </a:prstGeom>
          <a:noFill/>
          <a:ln/>
        </p:spPr>
        <p:txBody>
          <a:bodyPr wrap="square" lIns="0" tIns="0" rIns="0" bIns="0" rtlCol="0" anchor="t"/>
          <a:lstStyle/>
          <a:p>
            <a:pPr marL="0" indent="0">
              <a:buNone/>
            </a:pPr>
            <a:r>
              <a:rPr lang="en-US" sz="2400" b="1" dirty="0">
                <a:solidFill>
                  <a:srgbClr val="0B1730"/>
                </a:solidFill>
                <a:latin typeface="Cambria" pitchFamily="34" charset="0"/>
                <a:ea typeface="Cambria" pitchFamily="34" charset="-122"/>
                <a:cs typeface="Cambria" pitchFamily="34" charset="-120"/>
              </a:rPr>
              <a:t>Paper books</a:t>
            </a:r>
            <a:endParaRPr lang="en-US" sz="2400" dirty="0"/>
          </a:p>
        </p:txBody>
      </p:sp>
      <p:sp>
        <p:nvSpPr>
          <p:cNvPr id="9" name="Text 7"/>
          <p:cNvSpPr txBox="1"/>
          <p:nvPr/>
        </p:nvSpPr>
        <p:spPr>
          <a:xfrm>
            <a:off x="3474720" y="2743200"/>
            <a:ext cx="2240280" cy="731520"/>
          </a:xfrm>
          <a:prstGeom prst="rect">
            <a:avLst/>
          </a:prstGeom>
          <a:noFill/>
          <a:ln/>
        </p:spPr>
        <p:txBody>
          <a:bodyPr wrap="square" lIns="0" tIns="0" rIns="0" bIns="0" rtlCol="0" anchor="t"/>
          <a:lstStyle/>
          <a:p>
            <a:pPr marL="0" indent="0">
              <a:buNone/>
            </a:pPr>
            <a:r>
              <a:rPr lang="en-US" sz="1700" dirty="0">
                <a:solidFill>
                  <a:srgbClr val="5B6B84"/>
                </a:solidFill>
                <a:latin typeface="Calibri" pitchFamily="34" charset="0"/>
                <a:ea typeface="Calibri" pitchFamily="34" charset="-122"/>
                <a:cs typeface="Calibri" pitchFamily="34" charset="-120"/>
              </a:rPr>
              <a:t>Easy to lose, hard to search</a:t>
            </a:r>
            <a:endParaRPr lang="en-US" sz="1700" dirty="0"/>
          </a:p>
        </p:txBody>
      </p:sp>
      <p:sp>
        <p:nvSpPr>
          <p:cNvPr id="10" name="Card"/>
          <p:cNvSpPr/>
          <p:nvPr/>
        </p:nvSpPr>
        <p:spPr>
          <a:xfrm>
            <a:off x="6035040" y="1554480"/>
            <a:ext cx="2651760" cy="2011680"/>
          </a:xfrm>
          <a:prstGeom prst="roundRect">
            <a:avLst>
              <a:gd name="adj" fmla="val 5455"/>
            </a:avLst>
          </a:prstGeom>
          <a:solidFill>
            <a:srgbClr val="EAF2F8"/>
          </a:solidFill>
          <a:ln w="12700">
            <a:solidFill>
              <a:srgbClr val="EAF2F8"/>
            </a:solidFill>
            <a:prstDash val="solid"/>
          </a:ln>
        </p:spPr>
        <p:txBody>
          <a:bodyPr/>
          <a:lstStyle/>
          <a:p>
            <a:endParaRPr lang="en-ZW"/>
          </a:p>
        </p:txBody>
      </p:sp>
      <p:sp>
        <p:nvSpPr>
          <p:cNvPr id="11" name="Text 9"/>
          <p:cNvSpPr txBox="1"/>
          <p:nvPr/>
        </p:nvSpPr>
        <p:spPr>
          <a:xfrm>
            <a:off x="6263640" y="1828800"/>
            <a:ext cx="2240280" cy="822960"/>
          </a:xfrm>
          <a:prstGeom prst="rect">
            <a:avLst/>
          </a:prstGeom>
          <a:noFill/>
          <a:ln/>
        </p:spPr>
        <p:txBody>
          <a:bodyPr wrap="square" lIns="0" tIns="0" rIns="0" bIns="0" rtlCol="0" anchor="t"/>
          <a:lstStyle/>
          <a:p>
            <a:pPr marL="0" indent="0">
              <a:buNone/>
            </a:pPr>
            <a:r>
              <a:rPr lang="en-US" sz="2400" b="1" dirty="0">
                <a:solidFill>
                  <a:srgbClr val="0B1730"/>
                </a:solidFill>
                <a:latin typeface="Cambria" pitchFamily="34" charset="0"/>
                <a:ea typeface="Cambria" pitchFamily="34" charset="-122"/>
                <a:cs typeface="Cambria" pitchFamily="34" charset="-120"/>
              </a:rPr>
              <a:t>Phone calls</a:t>
            </a:r>
            <a:endParaRPr lang="en-US" sz="2400" dirty="0"/>
          </a:p>
        </p:txBody>
      </p:sp>
      <p:sp>
        <p:nvSpPr>
          <p:cNvPr id="12" name="Text 10"/>
          <p:cNvSpPr txBox="1"/>
          <p:nvPr/>
        </p:nvSpPr>
        <p:spPr>
          <a:xfrm>
            <a:off x="6263640" y="2743200"/>
            <a:ext cx="2240280" cy="731520"/>
          </a:xfrm>
          <a:prstGeom prst="rect">
            <a:avLst/>
          </a:prstGeom>
          <a:noFill/>
          <a:ln/>
        </p:spPr>
        <p:txBody>
          <a:bodyPr wrap="square" lIns="0" tIns="0" rIns="0" bIns="0" rtlCol="0" anchor="t"/>
          <a:lstStyle/>
          <a:p>
            <a:pPr marL="0" indent="0">
              <a:buNone/>
            </a:pPr>
            <a:r>
              <a:rPr lang="en-US" sz="1700" dirty="0">
                <a:solidFill>
                  <a:srgbClr val="5B6B84"/>
                </a:solidFill>
                <a:latin typeface="Calibri" pitchFamily="34" charset="0"/>
                <a:ea typeface="Calibri" pitchFamily="34" charset="-122"/>
                <a:cs typeface="Calibri" pitchFamily="34" charset="-120"/>
              </a:rPr>
              <a:t>One person at a time</a:t>
            </a:r>
            <a:endParaRPr lang="en-US" sz="1700" dirty="0"/>
          </a:p>
        </p:txBody>
      </p:sp>
      <p:sp>
        <p:nvSpPr>
          <p:cNvPr id="13" name="Text 11"/>
          <p:cNvSpPr txBox="1"/>
          <p:nvPr/>
        </p:nvSpPr>
        <p:spPr>
          <a:xfrm>
            <a:off x="457200" y="3840480"/>
            <a:ext cx="8229600" cy="640080"/>
          </a:xfrm>
          <a:prstGeom prst="rect">
            <a:avLst/>
          </a:prstGeom>
          <a:noFill/>
          <a:ln/>
        </p:spPr>
        <p:txBody>
          <a:bodyPr wrap="square" lIns="0" tIns="0" rIns="0" bIns="0" rtlCol="0" anchor="t"/>
          <a:lstStyle/>
          <a:p>
            <a:pPr marL="0" indent="0">
              <a:buNone/>
            </a:pPr>
            <a:r>
              <a:rPr lang="en-US" sz="1800" dirty="0">
                <a:solidFill>
                  <a:srgbClr val="1B2A41"/>
                </a:solidFill>
                <a:latin typeface="Calibri" pitchFamily="34" charset="0"/>
                <a:ea typeface="Calibri" pitchFamily="34" charset="-122"/>
                <a:cs typeface="Calibri" pitchFamily="34" charset="-120"/>
              </a:rPr>
              <a:t>Neighbourhood watches are volunteer groups that work with the police, block captains and coordinators.</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3 PROBLEM STATEMENT</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Three problems</a:t>
            </a:r>
            <a:endParaRPr lang="en-US" sz="3600" dirty="0"/>
          </a:p>
        </p:txBody>
      </p:sp>
      <p:sp>
        <p:nvSpPr>
          <p:cNvPr id="4" name="Card"/>
          <p:cNvSpPr/>
          <p:nvPr/>
        </p:nvSpPr>
        <p:spPr>
          <a:xfrm>
            <a:off x="45720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5" name="Badge 1"/>
          <p:cNvSpPr/>
          <p:nvPr/>
        </p:nvSpPr>
        <p:spPr>
          <a:xfrm>
            <a:off x="685800" y="1783080"/>
            <a:ext cx="640080" cy="640080"/>
          </a:xfrm>
          <a:prstGeom prst="ellipse">
            <a:avLst/>
          </a:prstGeom>
          <a:solidFill>
            <a:srgbClr val="0B1730"/>
          </a:solidFill>
          <a:ln w="12700">
            <a:solidFill>
              <a:srgbClr val="0B1730"/>
            </a:solidFill>
            <a:prstDash val="solid"/>
          </a:ln>
        </p:spPr>
        <p:txBody>
          <a:bodyPr/>
          <a:lstStyle/>
          <a:p>
            <a:endParaRPr lang="en-ZW"/>
          </a:p>
        </p:txBody>
      </p:sp>
      <p:sp>
        <p:nvSpPr>
          <p:cNvPr id="6" name="Text 4"/>
          <p:cNvSpPr txBox="1"/>
          <p:nvPr/>
        </p:nvSpPr>
        <p:spPr>
          <a:xfrm>
            <a:off x="685800" y="17830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85800" y="2606040"/>
            <a:ext cx="2240280" cy="731520"/>
          </a:xfrm>
          <a:prstGeom prst="rect">
            <a:avLst/>
          </a:prstGeom>
          <a:noFill/>
          <a:ln/>
        </p:spPr>
        <p:txBody>
          <a:bodyPr wrap="square" lIns="0" tIns="0" rIns="0" bIns="0" rtlCol="0" anchor="t"/>
          <a:lstStyle/>
          <a:p>
            <a:pPr marL="0" indent="0">
              <a:buNone/>
            </a:pPr>
            <a:r>
              <a:rPr lang="en-US" sz="2200" b="1" dirty="0">
                <a:solidFill>
                  <a:srgbClr val="0B1730"/>
                </a:solidFill>
                <a:latin typeface="Cambria" pitchFamily="34" charset="0"/>
                <a:ea typeface="Cambria" pitchFamily="34" charset="-122"/>
                <a:cs typeface="Cambria" pitchFamily="34" charset="-120"/>
              </a:rPr>
              <a:t>Reports get lost</a:t>
            </a:r>
            <a:endParaRPr lang="en-US" sz="2200" dirty="0"/>
          </a:p>
        </p:txBody>
      </p:sp>
      <p:sp>
        <p:nvSpPr>
          <p:cNvPr id="8" name="Text 6"/>
          <p:cNvSpPr txBox="1"/>
          <p:nvPr/>
        </p:nvSpPr>
        <p:spPr>
          <a:xfrm>
            <a:off x="685800" y="3291840"/>
            <a:ext cx="2240280" cy="109728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Verbal and paper reports have no exact location and no record of who handled them.</a:t>
            </a:r>
            <a:endParaRPr lang="en-US" sz="1500" dirty="0"/>
          </a:p>
        </p:txBody>
      </p:sp>
      <p:sp>
        <p:nvSpPr>
          <p:cNvPr id="9" name="Card"/>
          <p:cNvSpPr/>
          <p:nvPr/>
        </p:nvSpPr>
        <p:spPr>
          <a:xfrm>
            <a:off x="324612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10" name="Badge 2"/>
          <p:cNvSpPr/>
          <p:nvPr/>
        </p:nvSpPr>
        <p:spPr>
          <a:xfrm>
            <a:off x="3474720" y="1783080"/>
            <a:ext cx="640080" cy="640080"/>
          </a:xfrm>
          <a:prstGeom prst="ellipse">
            <a:avLst/>
          </a:prstGeom>
          <a:solidFill>
            <a:srgbClr val="0B1730"/>
          </a:solidFill>
          <a:ln w="12700">
            <a:solidFill>
              <a:srgbClr val="0B1730"/>
            </a:solidFill>
            <a:prstDash val="solid"/>
          </a:ln>
        </p:spPr>
        <p:txBody>
          <a:bodyPr/>
          <a:lstStyle/>
          <a:p>
            <a:endParaRPr lang="en-ZW"/>
          </a:p>
        </p:txBody>
      </p:sp>
      <p:sp>
        <p:nvSpPr>
          <p:cNvPr id="11" name="Text 9"/>
          <p:cNvSpPr txBox="1"/>
          <p:nvPr/>
        </p:nvSpPr>
        <p:spPr>
          <a:xfrm>
            <a:off x="3474720" y="17830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3474720" y="2606040"/>
            <a:ext cx="2240280" cy="731520"/>
          </a:xfrm>
          <a:prstGeom prst="rect">
            <a:avLst/>
          </a:prstGeom>
          <a:noFill/>
          <a:ln/>
        </p:spPr>
        <p:txBody>
          <a:bodyPr wrap="square" lIns="0" tIns="0" rIns="0" bIns="0" rtlCol="0" anchor="t"/>
          <a:lstStyle/>
          <a:p>
            <a:pPr marL="0" indent="0">
              <a:buNone/>
            </a:pPr>
            <a:r>
              <a:rPr lang="en-US" sz="2200" b="1" dirty="0">
                <a:solidFill>
                  <a:srgbClr val="0B1730"/>
                </a:solidFill>
                <a:latin typeface="Cambria" pitchFamily="34" charset="0"/>
                <a:ea typeface="Cambria" pitchFamily="34" charset="-122"/>
                <a:cs typeface="Cambria" pitchFamily="34" charset="-120"/>
              </a:rPr>
              <a:t>No way to check</a:t>
            </a:r>
            <a:endParaRPr lang="en-US" sz="2200" dirty="0"/>
          </a:p>
        </p:txBody>
      </p:sp>
      <p:sp>
        <p:nvSpPr>
          <p:cNvPr id="13" name="Text 11"/>
          <p:cNvSpPr txBox="1"/>
          <p:nvPr/>
        </p:nvSpPr>
        <p:spPr>
          <a:xfrm>
            <a:off x="3474720" y="3291840"/>
            <a:ext cx="2240280" cy="109728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Rumours spread in groups. Photos stay on personal phones.</a:t>
            </a:r>
            <a:endParaRPr lang="en-US" sz="1500" dirty="0"/>
          </a:p>
        </p:txBody>
      </p:sp>
      <p:sp>
        <p:nvSpPr>
          <p:cNvPr id="14" name="Card"/>
          <p:cNvSpPr/>
          <p:nvPr/>
        </p:nvSpPr>
        <p:spPr>
          <a:xfrm>
            <a:off x="6035040" y="1554480"/>
            <a:ext cx="2651760" cy="2834640"/>
          </a:xfrm>
          <a:prstGeom prst="roundRect">
            <a:avLst>
              <a:gd name="adj" fmla="val 4138"/>
            </a:avLst>
          </a:prstGeom>
          <a:solidFill>
            <a:srgbClr val="EAF2F8"/>
          </a:solidFill>
          <a:ln w="12700">
            <a:solidFill>
              <a:srgbClr val="EAF2F8"/>
            </a:solidFill>
            <a:prstDash val="solid"/>
          </a:ln>
        </p:spPr>
        <p:txBody>
          <a:bodyPr/>
          <a:lstStyle/>
          <a:p>
            <a:endParaRPr lang="en-ZW"/>
          </a:p>
        </p:txBody>
      </p:sp>
      <p:sp>
        <p:nvSpPr>
          <p:cNvPr id="15" name="Badge 3"/>
          <p:cNvSpPr/>
          <p:nvPr/>
        </p:nvSpPr>
        <p:spPr>
          <a:xfrm>
            <a:off x="6263640" y="1783080"/>
            <a:ext cx="640080" cy="640080"/>
          </a:xfrm>
          <a:prstGeom prst="ellipse">
            <a:avLst/>
          </a:prstGeom>
          <a:solidFill>
            <a:srgbClr val="E5484D"/>
          </a:solidFill>
          <a:ln w="12700">
            <a:solidFill>
              <a:srgbClr val="E5484D"/>
            </a:solidFill>
            <a:prstDash val="solid"/>
          </a:ln>
        </p:spPr>
        <p:txBody>
          <a:bodyPr/>
          <a:lstStyle/>
          <a:p>
            <a:endParaRPr lang="en-ZW"/>
          </a:p>
        </p:txBody>
      </p:sp>
      <p:sp>
        <p:nvSpPr>
          <p:cNvPr id="16" name="Text 14"/>
          <p:cNvSpPr txBox="1"/>
          <p:nvPr/>
        </p:nvSpPr>
        <p:spPr>
          <a:xfrm>
            <a:off x="6263640" y="17830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263640" y="2606040"/>
            <a:ext cx="2240280" cy="731520"/>
          </a:xfrm>
          <a:prstGeom prst="rect">
            <a:avLst/>
          </a:prstGeom>
          <a:noFill/>
          <a:ln/>
        </p:spPr>
        <p:txBody>
          <a:bodyPr wrap="square" lIns="0" tIns="0" rIns="0" bIns="0" rtlCol="0" anchor="t"/>
          <a:lstStyle/>
          <a:p>
            <a:pPr marL="0" indent="0">
              <a:buNone/>
            </a:pPr>
            <a:r>
              <a:rPr lang="en-US" sz="2200" b="1" dirty="0">
                <a:solidFill>
                  <a:srgbClr val="0B1730"/>
                </a:solidFill>
                <a:latin typeface="Cambria" pitchFamily="34" charset="0"/>
                <a:ea typeface="Cambria" pitchFamily="34" charset="-122"/>
                <a:cs typeface="Cambria" pitchFamily="34" charset="-120"/>
              </a:rPr>
              <a:t>No fast alert</a:t>
            </a:r>
            <a:endParaRPr lang="en-US" sz="2200" dirty="0"/>
          </a:p>
        </p:txBody>
      </p:sp>
      <p:sp>
        <p:nvSpPr>
          <p:cNvPr id="18" name="Text 16"/>
          <p:cNvSpPr txBox="1"/>
          <p:nvPr/>
        </p:nvSpPr>
        <p:spPr>
          <a:xfrm>
            <a:off x="6263640" y="3291840"/>
            <a:ext cx="2240280" cy="109728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There is no quick way to share a location, so help arrives late.</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4 OBJECTIVES</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What the system must do</a:t>
            </a:r>
            <a:endParaRPr lang="en-US" sz="3600" dirty="0"/>
          </a:p>
        </p:txBody>
      </p:sp>
      <p:sp>
        <p:nvSpPr>
          <p:cNvPr id="4" name="Card"/>
          <p:cNvSpPr/>
          <p:nvPr/>
        </p:nvSpPr>
        <p:spPr>
          <a:xfrm>
            <a:off x="457200" y="1554480"/>
            <a:ext cx="4023360" cy="1325880"/>
          </a:xfrm>
          <a:prstGeom prst="roundRect">
            <a:avLst>
              <a:gd name="adj" fmla="val 8276"/>
            </a:avLst>
          </a:prstGeom>
          <a:solidFill>
            <a:srgbClr val="12294D"/>
          </a:solidFill>
          <a:ln w="12700">
            <a:solidFill>
              <a:srgbClr val="12294D"/>
            </a:solidFill>
            <a:prstDash val="solid"/>
          </a:ln>
        </p:spPr>
        <p:txBody>
          <a:bodyPr/>
          <a:lstStyle/>
          <a:p>
            <a:endParaRPr lang="en-ZW"/>
          </a:p>
        </p:txBody>
      </p:sp>
      <p:sp>
        <p:nvSpPr>
          <p:cNvPr id="5" name="Badge 1"/>
          <p:cNvSpPr/>
          <p:nvPr/>
        </p:nvSpPr>
        <p:spPr>
          <a:xfrm>
            <a:off x="685800" y="1874520"/>
            <a:ext cx="685800" cy="685800"/>
          </a:xfrm>
          <a:prstGeom prst="ellipse">
            <a:avLst/>
          </a:prstGeom>
          <a:solidFill>
            <a:srgbClr val="12B5CB"/>
          </a:solidFill>
          <a:ln w="12700">
            <a:solidFill>
              <a:srgbClr val="12B5CB"/>
            </a:solidFill>
            <a:prstDash val="solid"/>
          </a:ln>
        </p:spPr>
        <p:txBody>
          <a:bodyPr/>
          <a:lstStyle/>
          <a:p>
            <a:endParaRPr lang="en-ZW"/>
          </a:p>
        </p:txBody>
      </p:sp>
      <p:sp>
        <p:nvSpPr>
          <p:cNvPr id="6" name="Text 4"/>
          <p:cNvSpPr txBox="1"/>
          <p:nvPr/>
        </p:nvSpPr>
        <p:spPr>
          <a:xfrm>
            <a:off x="685800" y="1874520"/>
            <a:ext cx="685800" cy="68580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554480" y="1691640"/>
            <a:ext cx="274320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Let people register and log in safely</a:t>
            </a:r>
            <a:endParaRPr lang="en-US" sz="1900" dirty="0"/>
          </a:p>
        </p:txBody>
      </p:sp>
      <p:sp>
        <p:nvSpPr>
          <p:cNvPr id="8" name="Card"/>
          <p:cNvSpPr/>
          <p:nvPr/>
        </p:nvSpPr>
        <p:spPr>
          <a:xfrm>
            <a:off x="4663440" y="1554480"/>
            <a:ext cx="4023360" cy="1325880"/>
          </a:xfrm>
          <a:prstGeom prst="roundRect">
            <a:avLst>
              <a:gd name="adj" fmla="val 8276"/>
            </a:avLst>
          </a:prstGeom>
          <a:solidFill>
            <a:srgbClr val="12294D"/>
          </a:solidFill>
          <a:ln w="12700">
            <a:solidFill>
              <a:srgbClr val="12294D"/>
            </a:solidFill>
            <a:prstDash val="solid"/>
          </a:ln>
        </p:spPr>
        <p:txBody>
          <a:bodyPr/>
          <a:lstStyle/>
          <a:p>
            <a:endParaRPr lang="en-ZW"/>
          </a:p>
        </p:txBody>
      </p:sp>
      <p:sp>
        <p:nvSpPr>
          <p:cNvPr id="9" name="Badge 2"/>
          <p:cNvSpPr/>
          <p:nvPr/>
        </p:nvSpPr>
        <p:spPr>
          <a:xfrm>
            <a:off x="4892040" y="1874520"/>
            <a:ext cx="685800" cy="685800"/>
          </a:xfrm>
          <a:prstGeom prst="ellipse">
            <a:avLst/>
          </a:prstGeom>
          <a:solidFill>
            <a:srgbClr val="12B5CB"/>
          </a:solidFill>
          <a:ln w="12700">
            <a:solidFill>
              <a:srgbClr val="12B5CB"/>
            </a:solidFill>
            <a:prstDash val="solid"/>
          </a:ln>
        </p:spPr>
        <p:txBody>
          <a:bodyPr/>
          <a:lstStyle/>
          <a:p>
            <a:endParaRPr lang="en-ZW"/>
          </a:p>
        </p:txBody>
      </p:sp>
      <p:sp>
        <p:nvSpPr>
          <p:cNvPr id="10" name="Text 8"/>
          <p:cNvSpPr txBox="1"/>
          <p:nvPr/>
        </p:nvSpPr>
        <p:spPr>
          <a:xfrm>
            <a:off x="4892040" y="1874520"/>
            <a:ext cx="685800" cy="68580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5760720" y="1691640"/>
            <a:ext cx="274320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Let residents report incidents with evidence</a:t>
            </a:r>
            <a:endParaRPr lang="en-US" sz="1900" dirty="0"/>
          </a:p>
        </p:txBody>
      </p:sp>
      <p:sp>
        <p:nvSpPr>
          <p:cNvPr id="12" name="Card"/>
          <p:cNvSpPr/>
          <p:nvPr/>
        </p:nvSpPr>
        <p:spPr>
          <a:xfrm>
            <a:off x="457200" y="3063240"/>
            <a:ext cx="4023360" cy="1325880"/>
          </a:xfrm>
          <a:prstGeom prst="roundRect">
            <a:avLst>
              <a:gd name="adj" fmla="val 8276"/>
            </a:avLst>
          </a:prstGeom>
          <a:solidFill>
            <a:srgbClr val="12294D"/>
          </a:solidFill>
          <a:ln w="12700">
            <a:solidFill>
              <a:srgbClr val="12294D"/>
            </a:solidFill>
            <a:prstDash val="solid"/>
          </a:ln>
        </p:spPr>
        <p:txBody>
          <a:bodyPr/>
          <a:lstStyle/>
          <a:p>
            <a:endParaRPr lang="en-ZW"/>
          </a:p>
        </p:txBody>
      </p:sp>
      <p:sp>
        <p:nvSpPr>
          <p:cNvPr id="13" name="Badge 3"/>
          <p:cNvSpPr/>
          <p:nvPr/>
        </p:nvSpPr>
        <p:spPr>
          <a:xfrm>
            <a:off x="685800" y="3383280"/>
            <a:ext cx="685800" cy="685800"/>
          </a:xfrm>
          <a:prstGeom prst="ellipse">
            <a:avLst/>
          </a:prstGeom>
          <a:solidFill>
            <a:srgbClr val="12B5CB"/>
          </a:solidFill>
          <a:ln w="12700">
            <a:solidFill>
              <a:srgbClr val="12B5CB"/>
            </a:solidFill>
            <a:prstDash val="solid"/>
          </a:ln>
        </p:spPr>
        <p:txBody>
          <a:bodyPr/>
          <a:lstStyle/>
          <a:p>
            <a:endParaRPr lang="en-ZW"/>
          </a:p>
        </p:txBody>
      </p:sp>
      <p:sp>
        <p:nvSpPr>
          <p:cNvPr id="14" name="Text 12"/>
          <p:cNvSpPr txBox="1"/>
          <p:nvPr/>
        </p:nvSpPr>
        <p:spPr>
          <a:xfrm>
            <a:off x="685800" y="3383280"/>
            <a:ext cx="685800" cy="68580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554480" y="3200400"/>
            <a:ext cx="274320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Let residents send an SOS with live location</a:t>
            </a:r>
            <a:endParaRPr lang="en-US" sz="1900" dirty="0"/>
          </a:p>
        </p:txBody>
      </p:sp>
      <p:sp>
        <p:nvSpPr>
          <p:cNvPr id="16" name="Card"/>
          <p:cNvSpPr/>
          <p:nvPr/>
        </p:nvSpPr>
        <p:spPr>
          <a:xfrm>
            <a:off x="4663440" y="3063240"/>
            <a:ext cx="4023360" cy="1325880"/>
          </a:xfrm>
          <a:prstGeom prst="roundRect">
            <a:avLst>
              <a:gd name="adj" fmla="val 8276"/>
            </a:avLst>
          </a:prstGeom>
          <a:solidFill>
            <a:srgbClr val="12294D"/>
          </a:solidFill>
          <a:ln w="12700">
            <a:solidFill>
              <a:srgbClr val="12294D"/>
            </a:solidFill>
            <a:prstDash val="solid"/>
          </a:ln>
        </p:spPr>
        <p:txBody>
          <a:bodyPr/>
          <a:lstStyle/>
          <a:p>
            <a:endParaRPr lang="en-ZW"/>
          </a:p>
        </p:txBody>
      </p:sp>
      <p:sp>
        <p:nvSpPr>
          <p:cNvPr id="17" name="Badge 4"/>
          <p:cNvSpPr/>
          <p:nvPr/>
        </p:nvSpPr>
        <p:spPr>
          <a:xfrm>
            <a:off x="4892040" y="3383280"/>
            <a:ext cx="685800" cy="685800"/>
          </a:xfrm>
          <a:prstGeom prst="ellipse">
            <a:avLst/>
          </a:prstGeom>
          <a:solidFill>
            <a:srgbClr val="12B5CB"/>
          </a:solidFill>
          <a:ln w="12700">
            <a:solidFill>
              <a:srgbClr val="12B5CB"/>
            </a:solidFill>
            <a:prstDash val="solid"/>
          </a:ln>
        </p:spPr>
        <p:txBody>
          <a:bodyPr/>
          <a:lstStyle/>
          <a:p>
            <a:endParaRPr lang="en-ZW"/>
          </a:p>
        </p:txBody>
      </p:sp>
      <p:sp>
        <p:nvSpPr>
          <p:cNvPr id="18" name="Text 16"/>
          <p:cNvSpPr txBox="1"/>
          <p:nvPr/>
        </p:nvSpPr>
        <p:spPr>
          <a:xfrm>
            <a:off x="4892040" y="3383280"/>
            <a:ext cx="685800" cy="68580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5760720" y="3200400"/>
            <a:ext cx="274320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Record every important action</a:t>
            </a:r>
            <a:endParaRPr lang="en-US" sz="1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F"/>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5 METHODS USED</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How I built it</a:t>
            </a:r>
            <a:endParaRPr lang="en-US" sz="3600" dirty="0"/>
          </a:p>
        </p:txBody>
      </p:sp>
      <p:sp>
        <p:nvSpPr>
          <p:cNvPr id="4" name="Card"/>
          <p:cNvSpPr/>
          <p:nvPr/>
        </p:nvSpPr>
        <p:spPr>
          <a:xfrm>
            <a:off x="457200" y="1554480"/>
            <a:ext cx="1920240" cy="2834640"/>
          </a:xfrm>
          <a:prstGeom prst="roundRect">
            <a:avLst>
              <a:gd name="adj" fmla="val 5714"/>
            </a:avLst>
          </a:prstGeom>
          <a:solidFill>
            <a:srgbClr val="EAF2F8"/>
          </a:solidFill>
          <a:ln w="12700">
            <a:solidFill>
              <a:srgbClr val="EAF2F8"/>
            </a:solidFill>
            <a:prstDash val="solid"/>
          </a:ln>
        </p:spPr>
        <p:txBody>
          <a:bodyPr/>
          <a:lstStyle/>
          <a:p>
            <a:endParaRPr lang="en-ZW"/>
          </a:p>
        </p:txBody>
      </p:sp>
      <p:sp>
        <p:nvSpPr>
          <p:cNvPr id="5" name="Badge 1"/>
          <p:cNvSpPr/>
          <p:nvPr/>
        </p:nvSpPr>
        <p:spPr>
          <a:xfrm>
            <a:off x="640080" y="1737360"/>
            <a:ext cx="548640" cy="548640"/>
          </a:xfrm>
          <a:prstGeom prst="ellipse">
            <a:avLst/>
          </a:prstGeom>
          <a:solidFill>
            <a:srgbClr val="12B5CB"/>
          </a:solidFill>
          <a:ln w="12700">
            <a:solidFill>
              <a:srgbClr val="12B5CB"/>
            </a:solidFill>
            <a:prstDash val="solid"/>
          </a:ln>
        </p:spPr>
        <p:txBody>
          <a:bodyPr/>
          <a:lstStyle/>
          <a:p>
            <a:endParaRPr lang="en-ZW"/>
          </a:p>
        </p:txBody>
      </p:sp>
      <p:sp>
        <p:nvSpPr>
          <p:cNvPr id="6" name="Text 4"/>
          <p:cNvSpPr txBox="1"/>
          <p:nvPr/>
        </p:nvSpPr>
        <p:spPr>
          <a:xfrm>
            <a:off x="640080" y="17373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40080" y="2468880"/>
            <a:ext cx="155448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Ask</a:t>
            </a:r>
            <a:endParaRPr lang="en-US" sz="2600" dirty="0"/>
          </a:p>
        </p:txBody>
      </p:sp>
      <p:sp>
        <p:nvSpPr>
          <p:cNvPr id="8" name="Text 6"/>
          <p:cNvSpPr txBox="1"/>
          <p:nvPr/>
        </p:nvSpPr>
        <p:spPr>
          <a:xfrm>
            <a:off x="640080" y="3017520"/>
            <a:ext cx="1600200" cy="128016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Interviews and questionnaires with residents, captains and police</a:t>
            </a:r>
            <a:endParaRPr lang="en-US" sz="1500" dirty="0"/>
          </a:p>
        </p:txBody>
      </p:sp>
      <p:sp>
        <p:nvSpPr>
          <p:cNvPr id="9" name="Card"/>
          <p:cNvSpPr/>
          <p:nvPr/>
        </p:nvSpPr>
        <p:spPr>
          <a:xfrm>
            <a:off x="2560320" y="1554480"/>
            <a:ext cx="1920240" cy="2834640"/>
          </a:xfrm>
          <a:prstGeom prst="roundRect">
            <a:avLst>
              <a:gd name="adj" fmla="val 5714"/>
            </a:avLst>
          </a:prstGeom>
          <a:solidFill>
            <a:srgbClr val="EAF2F8"/>
          </a:solidFill>
          <a:ln w="12700">
            <a:solidFill>
              <a:srgbClr val="EAF2F8"/>
            </a:solidFill>
            <a:prstDash val="solid"/>
          </a:ln>
        </p:spPr>
        <p:txBody>
          <a:bodyPr/>
          <a:lstStyle/>
          <a:p>
            <a:endParaRPr lang="en-ZW"/>
          </a:p>
        </p:txBody>
      </p:sp>
      <p:sp>
        <p:nvSpPr>
          <p:cNvPr id="10" name="Badge 2"/>
          <p:cNvSpPr/>
          <p:nvPr/>
        </p:nvSpPr>
        <p:spPr>
          <a:xfrm>
            <a:off x="2743200" y="1737360"/>
            <a:ext cx="548640" cy="548640"/>
          </a:xfrm>
          <a:prstGeom prst="ellipse">
            <a:avLst/>
          </a:prstGeom>
          <a:solidFill>
            <a:srgbClr val="F5A524"/>
          </a:solidFill>
          <a:ln w="12700">
            <a:solidFill>
              <a:srgbClr val="F5A524"/>
            </a:solidFill>
            <a:prstDash val="solid"/>
          </a:ln>
        </p:spPr>
        <p:txBody>
          <a:bodyPr/>
          <a:lstStyle/>
          <a:p>
            <a:endParaRPr lang="en-ZW"/>
          </a:p>
        </p:txBody>
      </p:sp>
      <p:sp>
        <p:nvSpPr>
          <p:cNvPr id="11" name="Text 9"/>
          <p:cNvSpPr txBox="1"/>
          <p:nvPr/>
        </p:nvSpPr>
        <p:spPr>
          <a:xfrm>
            <a:off x="2743200" y="1737360"/>
            <a:ext cx="548640" cy="548640"/>
          </a:xfrm>
          <a:prstGeom prst="rect">
            <a:avLst/>
          </a:prstGeom>
          <a:noFill/>
          <a:ln/>
        </p:spPr>
        <p:txBody>
          <a:bodyPr wrap="square" lIns="0" tIns="0" rIns="0" bIns="0" rtlCol="0" anchor="ctr"/>
          <a:lstStyle/>
          <a:p>
            <a:pPr marL="0" indent="0" algn="ctr">
              <a:buNone/>
            </a:pPr>
            <a:r>
              <a:rPr lang="en-US" sz="2000" b="1" dirty="0">
                <a:solidFill>
                  <a:srgbClr val="0B1730"/>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743200" y="2468880"/>
            <a:ext cx="155448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Design</a:t>
            </a:r>
            <a:endParaRPr lang="en-US" sz="2600" dirty="0"/>
          </a:p>
        </p:txBody>
      </p:sp>
      <p:sp>
        <p:nvSpPr>
          <p:cNvPr id="13" name="Text 11"/>
          <p:cNvSpPr txBox="1"/>
          <p:nvPr/>
        </p:nvSpPr>
        <p:spPr>
          <a:xfrm>
            <a:off x="2743200" y="3017520"/>
            <a:ext cx="1600200" cy="128016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Diagrams of the data flow, screens and database</a:t>
            </a:r>
            <a:endParaRPr lang="en-US" sz="1500" dirty="0"/>
          </a:p>
        </p:txBody>
      </p:sp>
      <p:sp>
        <p:nvSpPr>
          <p:cNvPr id="14" name="Card"/>
          <p:cNvSpPr/>
          <p:nvPr/>
        </p:nvSpPr>
        <p:spPr>
          <a:xfrm>
            <a:off x="4663440" y="1554480"/>
            <a:ext cx="1920240" cy="2834640"/>
          </a:xfrm>
          <a:prstGeom prst="roundRect">
            <a:avLst>
              <a:gd name="adj" fmla="val 5714"/>
            </a:avLst>
          </a:prstGeom>
          <a:solidFill>
            <a:srgbClr val="EAF2F8"/>
          </a:solidFill>
          <a:ln w="12700">
            <a:solidFill>
              <a:srgbClr val="EAF2F8"/>
            </a:solidFill>
            <a:prstDash val="solid"/>
          </a:ln>
        </p:spPr>
        <p:txBody>
          <a:bodyPr/>
          <a:lstStyle/>
          <a:p>
            <a:endParaRPr lang="en-ZW"/>
          </a:p>
        </p:txBody>
      </p:sp>
      <p:sp>
        <p:nvSpPr>
          <p:cNvPr id="15" name="Badge 3"/>
          <p:cNvSpPr/>
          <p:nvPr/>
        </p:nvSpPr>
        <p:spPr>
          <a:xfrm>
            <a:off x="4846320" y="1737360"/>
            <a:ext cx="548640" cy="548640"/>
          </a:xfrm>
          <a:prstGeom prst="ellipse">
            <a:avLst/>
          </a:prstGeom>
          <a:solidFill>
            <a:srgbClr val="2FBF71"/>
          </a:solidFill>
          <a:ln w="12700">
            <a:solidFill>
              <a:srgbClr val="2FBF71"/>
            </a:solidFill>
            <a:prstDash val="solid"/>
          </a:ln>
        </p:spPr>
        <p:txBody>
          <a:bodyPr/>
          <a:lstStyle/>
          <a:p>
            <a:endParaRPr lang="en-ZW"/>
          </a:p>
        </p:txBody>
      </p:sp>
      <p:sp>
        <p:nvSpPr>
          <p:cNvPr id="16" name="Text 14"/>
          <p:cNvSpPr txBox="1"/>
          <p:nvPr/>
        </p:nvSpPr>
        <p:spPr>
          <a:xfrm>
            <a:off x="4846320" y="17373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4846320" y="2468880"/>
            <a:ext cx="155448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Build</a:t>
            </a:r>
            <a:endParaRPr lang="en-US" sz="2600" dirty="0"/>
          </a:p>
        </p:txBody>
      </p:sp>
      <p:sp>
        <p:nvSpPr>
          <p:cNvPr id="18" name="Text 16"/>
          <p:cNvSpPr txBox="1"/>
          <p:nvPr/>
        </p:nvSpPr>
        <p:spPr>
          <a:xfrm>
            <a:off x="4846320" y="3017520"/>
            <a:ext cx="1600200" cy="128016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Python (Django) server and React website</a:t>
            </a:r>
            <a:endParaRPr lang="en-US" sz="1500" dirty="0"/>
          </a:p>
        </p:txBody>
      </p:sp>
      <p:sp>
        <p:nvSpPr>
          <p:cNvPr id="19" name="Card"/>
          <p:cNvSpPr/>
          <p:nvPr/>
        </p:nvSpPr>
        <p:spPr>
          <a:xfrm>
            <a:off x="6766560" y="1554480"/>
            <a:ext cx="1920240" cy="2834640"/>
          </a:xfrm>
          <a:prstGeom prst="roundRect">
            <a:avLst>
              <a:gd name="adj" fmla="val 5714"/>
            </a:avLst>
          </a:prstGeom>
          <a:solidFill>
            <a:srgbClr val="EAF2F8"/>
          </a:solidFill>
          <a:ln w="12700">
            <a:solidFill>
              <a:srgbClr val="EAF2F8"/>
            </a:solidFill>
            <a:prstDash val="solid"/>
          </a:ln>
        </p:spPr>
        <p:txBody>
          <a:bodyPr/>
          <a:lstStyle/>
          <a:p>
            <a:endParaRPr lang="en-ZW"/>
          </a:p>
        </p:txBody>
      </p:sp>
      <p:sp>
        <p:nvSpPr>
          <p:cNvPr id="20" name="Badge 4"/>
          <p:cNvSpPr/>
          <p:nvPr/>
        </p:nvSpPr>
        <p:spPr>
          <a:xfrm>
            <a:off x="6949440" y="1737360"/>
            <a:ext cx="548640" cy="548640"/>
          </a:xfrm>
          <a:prstGeom prst="ellipse">
            <a:avLst/>
          </a:prstGeom>
          <a:solidFill>
            <a:srgbClr val="E5484D"/>
          </a:solidFill>
          <a:ln w="12700">
            <a:solidFill>
              <a:srgbClr val="E5484D"/>
            </a:solidFill>
            <a:prstDash val="solid"/>
          </a:ln>
        </p:spPr>
        <p:txBody>
          <a:bodyPr/>
          <a:lstStyle/>
          <a:p>
            <a:endParaRPr lang="en-ZW"/>
          </a:p>
        </p:txBody>
      </p:sp>
      <p:sp>
        <p:nvSpPr>
          <p:cNvPr id="21" name="Text 19"/>
          <p:cNvSpPr txBox="1"/>
          <p:nvPr/>
        </p:nvSpPr>
        <p:spPr>
          <a:xfrm>
            <a:off x="6949440" y="17373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6949440" y="2468880"/>
            <a:ext cx="1554480" cy="457200"/>
          </a:xfrm>
          <a:prstGeom prst="rect">
            <a:avLst/>
          </a:prstGeom>
          <a:noFill/>
          <a:ln/>
        </p:spPr>
        <p:txBody>
          <a:bodyPr wrap="square" lIns="0" tIns="0" rIns="0" bIns="0" rtlCol="0" anchor="t"/>
          <a:lstStyle/>
          <a:p>
            <a:pPr marL="0" indent="0">
              <a:buNone/>
            </a:pPr>
            <a:r>
              <a:rPr lang="en-US" sz="2600" b="1" dirty="0">
                <a:solidFill>
                  <a:srgbClr val="0B1730"/>
                </a:solidFill>
                <a:latin typeface="Cambria" pitchFamily="34" charset="0"/>
                <a:ea typeface="Cambria" pitchFamily="34" charset="-122"/>
                <a:cs typeface="Cambria" pitchFamily="34" charset="-120"/>
              </a:rPr>
              <a:t>Test</a:t>
            </a:r>
            <a:endParaRPr lang="en-US" sz="2600" dirty="0"/>
          </a:p>
        </p:txBody>
      </p:sp>
      <p:sp>
        <p:nvSpPr>
          <p:cNvPr id="23" name="Text 21"/>
          <p:cNvSpPr txBox="1"/>
          <p:nvPr/>
        </p:nvSpPr>
        <p:spPr>
          <a:xfrm>
            <a:off x="6949440" y="3017520"/>
            <a:ext cx="1600200" cy="128016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180 automated tests passed</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5 METHODS USED</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The system in action</a:t>
            </a:r>
            <a:endParaRPr lang="en-US" sz="3600" dirty="0"/>
          </a:p>
        </p:txBody>
      </p:sp>
      <p:pic>
        <p:nvPicPr>
          <p:cNvPr id="4" name="Report and track incidents" descr="C:/Users/Kali/Documents/GitHub/Neihbourhood Watch/docs/screenshots/ui_incidents.png"/>
          <p:cNvPicPr>
            <a:picLocks noChangeAspect="1"/>
          </p:cNvPicPr>
          <p:nvPr/>
        </p:nvPicPr>
        <p:blipFill>
          <a:blip r:embed="rId3"/>
          <a:srcRect/>
          <a:stretch/>
        </p:blipFill>
        <p:spPr>
          <a:xfrm>
            <a:off x="457200" y="1463040"/>
            <a:ext cx="2651760" cy="1655064"/>
          </a:xfrm>
          <a:prstGeom prst="rect">
            <a:avLst/>
          </a:prstGeom>
        </p:spPr>
      </p:pic>
      <p:sp>
        <p:nvSpPr>
          <p:cNvPr id="5" name="Text 2"/>
          <p:cNvSpPr txBox="1"/>
          <p:nvPr/>
        </p:nvSpPr>
        <p:spPr>
          <a:xfrm>
            <a:off x="457200" y="3200400"/>
            <a:ext cx="2651760" cy="320040"/>
          </a:xfrm>
          <a:prstGeom prst="rect">
            <a:avLst/>
          </a:prstGeom>
          <a:noFill/>
          <a:ln/>
        </p:spPr>
        <p:txBody>
          <a:bodyPr wrap="square" lIns="0" tIns="0" rIns="0" bIns="0" rtlCol="0" anchor="t"/>
          <a:lstStyle/>
          <a:p>
            <a:pPr marL="0" indent="0">
              <a:buNone/>
            </a:pPr>
            <a:r>
              <a:rPr lang="en-US" sz="1500" b="1" dirty="0">
                <a:solidFill>
                  <a:srgbClr val="0B1730"/>
                </a:solidFill>
                <a:latin typeface="Calibri" pitchFamily="34" charset="0"/>
                <a:ea typeface="Calibri" pitchFamily="34" charset="-122"/>
                <a:cs typeface="Calibri" pitchFamily="34" charset="-120"/>
              </a:rPr>
              <a:t>Report and track incidents</a:t>
            </a:r>
            <a:endParaRPr lang="en-US" sz="1500" dirty="0"/>
          </a:p>
        </p:txBody>
      </p:sp>
      <p:pic>
        <p:nvPicPr>
          <p:cNvPr id="6" name="See them on a map" descr="C:/Users/Kali/Documents/GitHub/Neihbourhood Watch/docs/screenshots/ui_map.png"/>
          <p:cNvPicPr>
            <a:picLocks noChangeAspect="1"/>
          </p:cNvPicPr>
          <p:nvPr/>
        </p:nvPicPr>
        <p:blipFill>
          <a:blip r:embed="rId4"/>
          <a:srcRect/>
          <a:stretch/>
        </p:blipFill>
        <p:spPr>
          <a:xfrm>
            <a:off x="3246120" y="1463040"/>
            <a:ext cx="2651760" cy="1655064"/>
          </a:xfrm>
          <a:prstGeom prst="rect">
            <a:avLst/>
          </a:prstGeom>
        </p:spPr>
      </p:pic>
      <p:sp>
        <p:nvSpPr>
          <p:cNvPr id="7" name="Text 3"/>
          <p:cNvSpPr txBox="1"/>
          <p:nvPr/>
        </p:nvSpPr>
        <p:spPr>
          <a:xfrm>
            <a:off x="3246120" y="3200400"/>
            <a:ext cx="2651760" cy="320040"/>
          </a:xfrm>
          <a:prstGeom prst="rect">
            <a:avLst/>
          </a:prstGeom>
          <a:noFill/>
          <a:ln/>
        </p:spPr>
        <p:txBody>
          <a:bodyPr wrap="square" lIns="0" tIns="0" rIns="0" bIns="0" rtlCol="0" anchor="t"/>
          <a:lstStyle/>
          <a:p>
            <a:pPr marL="0" indent="0">
              <a:buNone/>
            </a:pPr>
            <a:r>
              <a:rPr lang="en-US" sz="1500" b="1" dirty="0">
                <a:solidFill>
                  <a:srgbClr val="0B1730"/>
                </a:solidFill>
                <a:latin typeface="Calibri" pitchFamily="34" charset="0"/>
                <a:ea typeface="Calibri" pitchFamily="34" charset="-122"/>
                <a:cs typeface="Calibri" pitchFamily="34" charset="-120"/>
              </a:rPr>
              <a:t>See them on a map</a:t>
            </a:r>
            <a:endParaRPr lang="en-US" sz="1500" dirty="0"/>
          </a:p>
        </p:txBody>
      </p:sp>
      <p:pic>
        <p:nvPicPr>
          <p:cNvPr id="8" name="Send an SOS alert" descr="C:/Users/Kali/Documents/GitHub/Neihbourhood Watch/docs/screenshots/ui_sos_active.png"/>
          <p:cNvPicPr>
            <a:picLocks noChangeAspect="1"/>
          </p:cNvPicPr>
          <p:nvPr/>
        </p:nvPicPr>
        <p:blipFill>
          <a:blip r:embed="rId5"/>
          <a:srcRect/>
          <a:stretch/>
        </p:blipFill>
        <p:spPr>
          <a:xfrm>
            <a:off x="6035040" y="1463040"/>
            <a:ext cx="2651760" cy="1655064"/>
          </a:xfrm>
          <a:prstGeom prst="rect">
            <a:avLst/>
          </a:prstGeom>
        </p:spPr>
      </p:pic>
      <p:sp>
        <p:nvSpPr>
          <p:cNvPr id="9" name="Text 4"/>
          <p:cNvSpPr txBox="1"/>
          <p:nvPr/>
        </p:nvSpPr>
        <p:spPr>
          <a:xfrm>
            <a:off x="6035040" y="3200400"/>
            <a:ext cx="2651760" cy="320040"/>
          </a:xfrm>
          <a:prstGeom prst="rect">
            <a:avLst/>
          </a:prstGeom>
          <a:noFill/>
          <a:ln/>
        </p:spPr>
        <p:txBody>
          <a:bodyPr wrap="square" lIns="0" tIns="0" rIns="0" bIns="0" rtlCol="0" anchor="t"/>
          <a:lstStyle/>
          <a:p>
            <a:pPr marL="0" indent="0">
              <a:buNone/>
            </a:pPr>
            <a:r>
              <a:rPr lang="en-US" sz="1500" b="1" dirty="0">
                <a:solidFill>
                  <a:srgbClr val="0B1730"/>
                </a:solidFill>
                <a:latin typeface="Calibri" pitchFamily="34" charset="0"/>
                <a:ea typeface="Calibri" pitchFamily="34" charset="-122"/>
                <a:cs typeface="Calibri" pitchFamily="34" charset="-120"/>
              </a:rPr>
              <a:t>Send an SOS alert</a:t>
            </a:r>
            <a:endParaRPr lang="en-US" sz="1500" dirty="0"/>
          </a:p>
        </p:txBody>
      </p:sp>
      <p:sp>
        <p:nvSpPr>
          <p:cNvPr id="10" name="Shape 5"/>
          <p:cNvSpPr/>
          <p:nvPr/>
        </p:nvSpPr>
        <p:spPr>
          <a:xfrm>
            <a:off x="457200" y="3840480"/>
            <a:ext cx="1463040" cy="548640"/>
          </a:xfrm>
          <a:prstGeom prst="roundRect">
            <a:avLst>
              <a:gd name="adj" fmla="val 16667"/>
            </a:avLst>
          </a:prstGeom>
          <a:solidFill>
            <a:srgbClr val="0B1730"/>
          </a:solidFill>
          <a:ln w="12700">
            <a:solidFill>
              <a:srgbClr val="0B1730"/>
            </a:solidFill>
            <a:prstDash val="solid"/>
          </a:ln>
        </p:spPr>
        <p:txBody>
          <a:bodyPr/>
          <a:lstStyle/>
          <a:p>
            <a:endParaRPr lang="en-ZW"/>
          </a:p>
        </p:txBody>
      </p:sp>
      <p:sp>
        <p:nvSpPr>
          <p:cNvPr id="11" name="Text 6"/>
          <p:cNvSpPr txBox="1"/>
          <p:nvPr/>
        </p:nvSpPr>
        <p:spPr>
          <a:xfrm>
            <a:off x="457200" y="3840480"/>
            <a:ext cx="14630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Pending</a:t>
            </a:r>
            <a:endParaRPr lang="en-US" sz="1400" dirty="0"/>
          </a:p>
        </p:txBody>
      </p:sp>
      <p:sp>
        <p:nvSpPr>
          <p:cNvPr id="12" name="Text 7"/>
          <p:cNvSpPr txBox="1"/>
          <p:nvPr/>
        </p:nvSpPr>
        <p:spPr>
          <a:xfrm>
            <a:off x="1920240" y="3840480"/>
            <a:ext cx="228600" cy="548640"/>
          </a:xfrm>
          <a:prstGeom prst="rect">
            <a:avLst/>
          </a:prstGeom>
          <a:noFill/>
          <a:ln/>
        </p:spPr>
        <p:txBody>
          <a:bodyPr wrap="square" lIns="0" tIns="0" rIns="0" bIns="0" rtlCol="0" anchor="ctr"/>
          <a:lstStyle/>
          <a:p>
            <a:pPr marL="0" indent="0" algn="ctr">
              <a:buNone/>
            </a:pPr>
            <a:r>
              <a:rPr lang="en-US" sz="2200" b="1" dirty="0">
                <a:solidFill>
                  <a:srgbClr val="5B6B84"/>
                </a:solidFill>
                <a:latin typeface="Calibri" pitchFamily="34" charset="0"/>
                <a:ea typeface="Calibri" pitchFamily="34" charset="-122"/>
                <a:cs typeface="Calibri" pitchFamily="34" charset="-120"/>
              </a:rPr>
              <a:t>›</a:t>
            </a:r>
            <a:endParaRPr lang="en-US" sz="2200" dirty="0"/>
          </a:p>
        </p:txBody>
      </p:sp>
      <p:sp>
        <p:nvSpPr>
          <p:cNvPr id="13" name="Shape 8"/>
          <p:cNvSpPr/>
          <p:nvPr/>
        </p:nvSpPr>
        <p:spPr>
          <a:xfrm>
            <a:off x="2148840" y="3840480"/>
            <a:ext cx="1463040" cy="548640"/>
          </a:xfrm>
          <a:prstGeom prst="roundRect">
            <a:avLst>
              <a:gd name="adj" fmla="val 16667"/>
            </a:avLst>
          </a:prstGeom>
          <a:solidFill>
            <a:srgbClr val="0B1730"/>
          </a:solidFill>
          <a:ln w="12700">
            <a:solidFill>
              <a:srgbClr val="0B1730"/>
            </a:solidFill>
            <a:prstDash val="solid"/>
          </a:ln>
        </p:spPr>
        <p:txBody>
          <a:bodyPr/>
          <a:lstStyle/>
          <a:p>
            <a:endParaRPr lang="en-ZW"/>
          </a:p>
        </p:txBody>
      </p:sp>
      <p:sp>
        <p:nvSpPr>
          <p:cNvPr id="14" name="Text 9"/>
          <p:cNvSpPr txBox="1"/>
          <p:nvPr/>
        </p:nvSpPr>
        <p:spPr>
          <a:xfrm>
            <a:off x="2148840" y="3840480"/>
            <a:ext cx="14630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Verified</a:t>
            </a:r>
            <a:endParaRPr lang="en-US" sz="1400" dirty="0"/>
          </a:p>
        </p:txBody>
      </p:sp>
      <p:sp>
        <p:nvSpPr>
          <p:cNvPr id="15" name="Text 10"/>
          <p:cNvSpPr txBox="1"/>
          <p:nvPr/>
        </p:nvSpPr>
        <p:spPr>
          <a:xfrm>
            <a:off x="3611880" y="3840480"/>
            <a:ext cx="228600" cy="548640"/>
          </a:xfrm>
          <a:prstGeom prst="rect">
            <a:avLst/>
          </a:prstGeom>
          <a:noFill/>
          <a:ln/>
        </p:spPr>
        <p:txBody>
          <a:bodyPr wrap="square" lIns="0" tIns="0" rIns="0" bIns="0" rtlCol="0" anchor="ctr"/>
          <a:lstStyle/>
          <a:p>
            <a:pPr marL="0" indent="0" algn="ctr">
              <a:buNone/>
            </a:pPr>
            <a:r>
              <a:rPr lang="en-US" sz="2200" b="1" dirty="0">
                <a:solidFill>
                  <a:srgbClr val="5B6B84"/>
                </a:solidFill>
                <a:latin typeface="Calibri" pitchFamily="34" charset="0"/>
                <a:ea typeface="Calibri" pitchFamily="34" charset="-122"/>
                <a:cs typeface="Calibri" pitchFamily="34" charset="-120"/>
              </a:rPr>
              <a:t>›</a:t>
            </a:r>
            <a:endParaRPr lang="en-US" sz="2200" dirty="0"/>
          </a:p>
        </p:txBody>
      </p:sp>
      <p:sp>
        <p:nvSpPr>
          <p:cNvPr id="16" name="Shape 11"/>
          <p:cNvSpPr/>
          <p:nvPr/>
        </p:nvSpPr>
        <p:spPr>
          <a:xfrm>
            <a:off x="3840480" y="3840480"/>
            <a:ext cx="1463040" cy="548640"/>
          </a:xfrm>
          <a:prstGeom prst="roundRect">
            <a:avLst>
              <a:gd name="adj" fmla="val 16667"/>
            </a:avLst>
          </a:prstGeom>
          <a:solidFill>
            <a:srgbClr val="0B1730"/>
          </a:solidFill>
          <a:ln w="12700">
            <a:solidFill>
              <a:srgbClr val="0B1730"/>
            </a:solidFill>
            <a:prstDash val="solid"/>
          </a:ln>
        </p:spPr>
        <p:txBody>
          <a:bodyPr/>
          <a:lstStyle/>
          <a:p>
            <a:endParaRPr lang="en-ZW"/>
          </a:p>
        </p:txBody>
      </p:sp>
      <p:sp>
        <p:nvSpPr>
          <p:cNvPr id="17" name="Text 12"/>
          <p:cNvSpPr txBox="1"/>
          <p:nvPr/>
        </p:nvSpPr>
        <p:spPr>
          <a:xfrm>
            <a:off x="3840480" y="3840480"/>
            <a:ext cx="14630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Investigating</a:t>
            </a:r>
            <a:endParaRPr lang="en-US" sz="1400" dirty="0"/>
          </a:p>
        </p:txBody>
      </p:sp>
      <p:sp>
        <p:nvSpPr>
          <p:cNvPr id="18" name="Text 13"/>
          <p:cNvSpPr txBox="1"/>
          <p:nvPr/>
        </p:nvSpPr>
        <p:spPr>
          <a:xfrm>
            <a:off x="5303520" y="3840480"/>
            <a:ext cx="228600" cy="548640"/>
          </a:xfrm>
          <a:prstGeom prst="rect">
            <a:avLst/>
          </a:prstGeom>
          <a:noFill/>
          <a:ln/>
        </p:spPr>
        <p:txBody>
          <a:bodyPr wrap="square" lIns="0" tIns="0" rIns="0" bIns="0" rtlCol="0" anchor="ctr"/>
          <a:lstStyle/>
          <a:p>
            <a:pPr marL="0" indent="0" algn="ctr">
              <a:buNone/>
            </a:pPr>
            <a:r>
              <a:rPr lang="en-US" sz="2200" b="1" dirty="0">
                <a:solidFill>
                  <a:srgbClr val="5B6B84"/>
                </a:solidFill>
                <a:latin typeface="Calibri" pitchFamily="34" charset="0"/>
                <a:ea typeface="Calibri" pitchFamily="34" charset="-122"/>
                <a:cs typeface="Calibri" pitchFamily="34" charset="-120"/>
              </a:rPr>
              <a:t>›</a:t>
            </a:r>
            <a:endParaRPr lang="en-US" sz="2200" dirty="0"/>
          </a:p>
        </p:txBody>
      </p:sp>
      <p:sp>
        <p:nvSpPr>
          <p:cNvPr id="19" name="Shape 14"/>
          <p:cNvSpPr/>
          <p:nvPr/>
        </p:nvSpPr>
        <p:spPr>
          <a:xfrm>
            <a:off x="5532120" y="3840480"/>
            <a:ext cx="1463040" cy="548640"/>
          </a:xfrm>
          <a:prstGeom prst="roundRect">
            <a:avLst>
              <a:gd name="adj" fmla="val 16667"/>
            </a:avLst>
          </a:prstGeom>
          <a:solidFill>
            <a:srgbClr val="0B1730"/>
          </a:solidFill>
          <a:ln w="12700">
            <a:solidFill>
              <a:srgbClr val="0B1730"/>
            </a:solidFill>
            <a:prstDash val="solid"/>
          </a:ln>
        </p:spPr>
        <p:txBody>
          <a:bodyPr/>
          <a:lstStyle/>
          <a:p>
            <a:endParaRPr lang="en-ZW"/>
          </a:p>
        </p:txBody>
      </p:sp>
      <p:sp>
        <p:nvSpPr>
          <p:cNvPr id="20" name="Text 15"/>
          <p:cNvSpPr txBox="1"/>
          <p:nvPr/>
        </p:nvSpPr>
        <p:spPr>
          <a:xfrm>
            <a:off x="5532120" y="3840480"/>
            <a:ext cx="14630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Resolved</a:t>
            </a:r>
            <a:endParaRPr lang="en-US" sz="1400" dirty="0"/>
          </a:p>
        </p:txBody>
      </p:sp>
      <p:sp>
        <p:nvSpPr>
          <p:cNvPr id="21" name="Text 16"/>
          <p:cNvSpPr txBox="1"/>
          <p:nvPr/>
        </p:nvSpPr>
        <p:spPr>
          <a:xfrm>
            <a:off x="6995160" y="3840480"/>
            <a:ext cx="228600" cy="548640"/>
          </a:xfrm>
          <a:prstGeom prst="rect">
            <a:avLst/>
          </a:prstGeom>
          <a:noFill/>
          <a:ln/>
        </p:spPr>
        <p:txBody>
          <a:bodyPr wrap="square" lIns="0" tIns="0" rIns="0" bIns="0" rtlCol="0" anchor="ctr"/>
          <a:lstStyle/>
          <a:p>
            <a:pPr marL="0" indent="0" algn="ctr">
              <a:buNone/>
            </a:pPr>
            <a:r>
              <a:rPr lang="en-US" sz="2200" b="1" dirty="0">
                <a:solidFill>
                  <a:srgbClr val="5B6B84"/>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7223760" y="3840480"/>
            <a:ext cx="1463040" cy="548640"/>
          </a:xfrm>
          <a:prstGeom prst="roundRect">
            <a:avLst>
              <a:gd name="adj" fmla="val 16667"/>
            </a:avLst>
          </a:prstGeom>
          <a:solidFill>
            <a:srgbClr val="2FBF71"/>
          </a:solidFill>
          <a:ln w="12700">
            <a:solidFill>
              <a:srgbClr val="2FBF71"/>
            </a:solidFill>
            <a:prstDash val="solid"/>
          </a:ln>
        </p:spPr>
        <p:txBody>
          <a:bodyPr/>
          <a:lstStyle/>
          <a:p>
            <a:endParaRPr lang="en-ZW"/>
          </a:p>
        </p:txBody>
      </p:sp>
      <p:sp>
        <p:nvSpPr>
          <p:cNvPr id="23" name="Text 18"/>
          <p:cNvSpPr txBox="1"/>
          <p:nvPr/>
        </p:nvSpPr>
        <p:spPr>
          <a:xfrm>
            <a:off x="7223760" y="3840480"/>
            <a:ext cx="14630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Closed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400" b="1" kern="0" spc="300" dirty="0">
                <a:solidFill>
                  <a:srgbClr val="12B5CB"/>
                </a:solidFill>
                <a:latin typeface="Calibri" pitchFamily="34" charset="0"/>
                <a:ea typeface="Calibri" pitchFamily="34" charset="-122"/>
                <a:cs typeface="Calibri" pitchFamily="34" charset="-120"/>
              </a:rPr>
              <a:t>6 BENEFITS AND FUTURE PLANS</a:t>
            </a:r>
            <a:endParaRPr lang="en-US" sz="1400" dirty="0"/>
          </a:p>
        </p:txBody>
      </p:sp>
      <p:sp>
        <p:nvSpPr>
          <p:cNvPr id="3" name="Title"/>
          <p:cNvSpPr txBox="1"/>
          <p:nvPr/>
        </p:nvSpPr>
        <p:spPr>
          <a:xfrm>
            <a:off x="457200" y="594360"/>
            <a:ext cx="8229600" cy="731520"/>
          </a:xfrm>
          <a:prstGeom prst="rect">
            <a:avLst/>
          </a:prstGeom>
          <a:noFill/>
          <a:ln/>
        </p:spPr>
        <p:txBody>
          <a:bodyPr wrap="square" lIns="0" tIns="0" rIns="0" bIns="0" rtlCol="0" anchor="t"/>
          <a:lstStyle/>
          <a:p>
            <a:pPr marL="0" indent="0">
              <a:buNone/>
            </a:pPr>
            <a:r>
              <a:rPr lang="en-US" sz="3600" b="1" dirty="0">
                <a:solidFill>
                  <a:srgbClr val="0B1730"/>
                </a:solidFill>
                <a:latin typeface="Cambria" pitchFamily="34" charset="0"/>
                <a:ea typeface="Cambria" pitchFamily="34" charset="-122"/>
                <a:cs typeface="Cambria" pitchFamily="34" charset="-120"/>
              </a:rPr>
              <a:t>Benefits and next steps</a:t>
            </a:r>
            <a:endParaRPr lang="en-US" sz="3600" dirty="0"/>
          </a:p>
        </p:txBody>
      </p:sp>
      <p:sp>
        <p:nvSpPr>
          <p:cNvPr id="4" name="Card"/>
          <p:cNvSpPr/>
          <p:nvPr/>
        </p:nvSpPr>
        <p:spPr>
          <a:xfrm>
            <a:off x="457200" y="1554480"/>
            <a:ext cx="4023360" cy="2926080"/>
          </a:xfrm>
          <a:prstGeom prst="roundRect">
            <a:avLst>
              <a:gd name="adj" fmla="val 3750"/>
            </a:avLst>
          </a:prstGeom>
          <a:solidFill>
            <a:srgbClr val="EAF2F8"/>
          </a:solidFill>
          <a:ln w="12700">
            <a:solidFill>
              <a:srgbClr val="EAF2F8"/>
            </a:solidFill>
            <a:prstDash val="solid"/>
          </a:ln>
        </p:spPr>
        <p:txBody>
          <a:bodyPr/>
          <a:lstStyle/>
          <a:p>
            <a:endParaRPr lang="en-ZW"/>
          </a:p>
        </p:txBody>
      </p:sp>
      <p:sp>
        <p:nvSpPr>
          <p:cNvPr id="5" name="Text 3"/>
          <p:cNvSpPr txBox="1"/>
          <p:nvPr/>
        </p:nvSpPr>
        <p:spPr>
          <a:xfrm>
            <a:off x="685800" y="1691640"/>
            <a:ext cx="3566160" cy="411480"/>
          </a:xfrm>
          <a:prstGeom prst="rect">
            <a:avLst/>
          </a:prstGeom>
          <a:noFill/>
          <a:ln/>
        </p:spPr>
        <p:txBody>
          <a:bodyPr wrap="square" lIns="0" tIns="0" rIns="0" bIns="0" rtlCol="0" anchor="t"/>
          <a:lstStyle/>
          <a:p>
            <a:pPr marL="0" indent="0">
              <a:buNone/>
            </a:pPr>
            <a:r>
              <a:rPr lang="en-US" sz="2400" b="1" dirty="0">
                <a:solidFill>
                  <a:srgbClr val="12B5CB"/>
                </a:solidFill>
                <a:latin typeface="Cambria" pitchFamily="34" charset="0"/>
                <a:ea typeface="Cambria" pitchFamily="34" charset="-122"/>
                <a:cs typeface="Cambria" pitchFamily="34" charset="-120"/>
              </a:rPr>
              <a:t>Benefits</a:t>
            </a:r>
            <a:endParaRPr lang="en-US" sz="2400" dirty="0"/>
          </a:p>
        </p:txBody>
      </p:sp>
      <p:sp>
        <p:nvSpPr>
          <p:cNvPr id="6" name="Text 4"/>
          <p:cNvSpPr txBox="1"/>
          <p:nvPr/>
        </p:nvSpPr>
        <p:spPr>
          <a:xfrm>
            <a:off x="685800" y="2194560"/>
            <a:ext cx="3611880" cy="2194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Faster help in an emergency</a:t>
            </a:r>
            <a:endParaRPr lang="en-US" sz="1700" dirty="0"/>
          </a:p>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Reports are checked, so people can trust them</a:t>
            </a:r>
            <a:endParaRPr lang="en-US" sz="1700" dirty="0"/>
          </a:p>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Evidence and records are kept safely</a:t>
            </a:r>
            <a:endParaRPr lang="en-US" sz="1700" dirty="0"/>
          </a:p>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Low cost: about $135 a year</a:t>
            </a:r>
            <a:endParaRPr lang="en-US" sz="1700" dirty="0"/>
          </a:p>
        </p:txBody>
      </p:sp>
      <p:sp>
        <p:nvSpPr>
          <p:cNvPr id="7" name="Card"/>
          <p:cNvSpPr/>
          <p:nvPr/>
        </p:nvSpPr>
        <p:spPr>
          <a:xfrm>
            <a:off x="4663440" y="1554480"/>
            <a:ext cx="4023360" cy="2926080"/>
          </a:xfrm>
          <a:prstGeom prst="roundRect">
            <a:avLst>
              <a:gd name="adj" fmla="val 3750"/>
            </a:avLst>
          </a:prstGeom>
          <a:solidFill>
            <a:srgbClr val="EAF2F8"/>
          </a:solidFill>
          <a:ln w="12700">
            <a:solidFill>
              <a:srgbClr val="EAF2F8"/>
            </a:solidFill>
            <a:prstDash val="solid"/>
          </a:ln>
        </p:spPr>
        <p:txBody>
          <a:bodyPr/>
          <a:lstStyle/>
          <a:p>
            <a:endParaRPr lang="en-ZW"/>
          </a:p>
        </p:txBody>
      </p:sp>
      <p:sp>
        <p:nvSpPr>
          <p:cNvPr id="8" name="Text 6"/>
          <p:cNvSpPr txBox="1"/>
          <p:nvPr/>
        </p:nvSpPr>
        <p:spPr>
          <a:xfrm>
            <a:off x="4892040" y="1691640"/>
            <a:ext cx="3566160" cy="411480"/>
          </a:xfrm>
          <a:prstGeom prst="rect">
            <a:avLst/>
          </a:prstGeom>
          <a:noFill/>
          <a:ln/>
        </p:spPr>
        <p:txBody>
          <a:bodyPr wrap="square" lIns="0" tIns="0" rIns="0" bIns="0" rtlCol="0" anchor="t"/>
          <a:lstStyle/>
          <a:p>
            <a:pPr marL="0" indent="0">
              <a:buNone/>
            </a:pPr>
            <a:r>
              <a:rPr lang="en-US" sz="2400" b="1" dirty="0">
                <a:solidFill>
                  <a:srgbClr val="F5A524"/>
                </a:solidFill>
                <a:latin typeface="Cambria" pitchFamily="34" charset="0"/>
                <a:ea typeface="Cambria" pitchFamily="34" charset="-122"/>
                <a:cs typeface="Cambria" pitchFamily="34" charset="-120"/>
              </a:rPr>
              <a:t>Future plans</a:t>
            </a:r>
            <a:endParaRPr lang="en-US" sz="2400" dirty="0"/>
          </a:p>
        </p:txBody>
      </p:sp>
      <p:sp>
        <p:nvSpPr>
          <p:cNvPr id="9" name="Text 7"/>
          <p:cNvSpPr txBox="1"/>
          <p:nvPr/>
        </p:nvSpPr>
        <p:spPr>
          <a:xfrm>
            <a:off x="4892040" y="2194560"/>
            <a:ext cx="3611880" cy="2194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Connect real SMS and push messages</a:t>
            </a:r>
            <a:endParaRPr lang="en-US" sz="1700" dirty="0"/>
          </a:p>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Add Shona and Ndebele</a:t>
            </a:r>
            <a:endParaRPr lang="en-US" sz="1700" dirty="0"/>
          </a:p>
          <a:p>
            <a:pPr marL="342900" indent="-342900">
              <a:spcAft>
                <a:spcPts val="800"/>
              </a:spcAft>
              <a:buSzPct val="100000"/>
              <a:buChar char="•"/>
            </a:pPr>
            <a:r>
              <a:rPr lang="en-US" sz="1700" dirty="0">
                <a:solidFill>
                  <a:srgbClr val="1B2A41"/>
                </a:solidFill>
                <a:latin typeface="Calibri" pitchFamily="34" charset="0"/>
                <a:ea typeface="Calibri" pitchFamily="34" charset="-122"/>
                <a:cs typeface="Calibri" pitchFamily="34" charset="-120"/>
              </a:rPr>
              <a:t>Add more automated tests</a:t>
            </a:r>
            <a:endParaRPr lang="en-US" sz="17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4"/>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1371600"/>
            <a:ext cx="8229600" cy="9144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457200" y="2377440"/>
            <a:ext cx="6858000" cy="822960"/>
          </a:xfrm>
          <a:prstGeom prst="rect">
            <a:avLst/>
          </a:prstGeom>
          <a:noFill/>
          <a:ln/>
        </p:spPr>
        <p:txBody>
          <a:bodyPr wrap="square" lIns="0" tIns="0" rIns="0" bIns="0" rtlCol="0" anchor="t"/>
          <a:lstStyle/>
          <a:p>
            <a:pPr marL="0" indent="0">
              <a:buNone/>
            </a:pPr>
            <a:r>
              <a:rPr lang="en-US" sz="2000" dirty="0">
                <a:solidFill>
                  <a:srgbClr val="BFD0E6"/>
                </a:solidFill>
                <a:latin typeface="Calibri" pitchFamily="34" charset="0"/>
                <a:ea typeface="Calibri" pitchFamily="34" charset="-122"/>
                <a:cs typeface="Calibri" pitchFamily="34" charset="-120"/>
              </a:rPr>
              <a:t>Safer neighbourhoods through reporting, checking and fast alerts.</a:t>
            </a:r>
            <a:endParaRPr lang="en-US" sz="2000" dirty="0"/>
          </a:p>
        </p:txBody>
      </p:sp>
      <p:sp>
        <p:nvSpPr>
          <p:cNvPr id="4" name="Text 2"/>
          <p:cNvSpPr txBox="1"/>
          <p:nvPr/>
        </p:nvSpPr>
        <p:spPr>
          <a:xfrm>
            <a:off x="457200" y="3474720"/>
            <a:ext cx="3657600" cy="457200"/>
          </a:xfrm>
          <a:prstGeom prst="rect">
            <a:avLst/>
          </a:prstGeom>
          <a:noFill/>
          <a:ln/>
        </p:spPr>
        <p:txBody>
          <a:bodyPr wrap="square" lIns="0" tIns="0" rIns="0" bIns="0" rtlCol="0" anchor="t"/>
          <a:lstStyle/>
          <a:p>
            <a:pPr marL="0" indent="0">
              <a:buNone/>
            </a:pPr>
            <a:r>
              <a:rPr lang="en-US" sz="2400" b="1" dirty="0">
                <a:solidFill>
                  <a:srgbClr val="F5A524"/>
                </a:solidFill>
                <a:latin typeface="Calibri" pitchFamily="34" charset="0"/>
                <a:ea typeface="Calibri" pitchFamily="34" charset="-122"/>
                <a:cs typeface="Calibri" pitchFamily="34" charset="-120"/>
              </a:rPr>
              <a:t>Questions?</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F"/>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NHW Night">
  <a:themeElements>
    <a:clrScheme name="NHW Night">
      <a:dk1>
        <a:srgbClr val="0B1730"/>
      </a:dk1>
      <a:lt1>
        <a:srgbClr val="FFFFFF"/>
      </a:lt1>
      <a:dk2>
        <a:srgbClr val="12294D"/>
      </a:dk2>
      <a:lt2>
        <a:srgbClr val="EAF2F8"/>
      </a:lt2>
      <a:accent1>
        <a:srgbClr val="12B5CB"/>
      </a:accent1>
      <a:accent2>
        <a:srgbClr val="F5A524"/>
      </a:accent2>
      <a:accent3>
        <a:srgbClr val="E5484D"/>
      </a:accent3>
      <a:accent4>
        <a:srgbClr val="2FBF71"/>
      </a:accent4>
      <a:accent5>
        <a:srgbClr val="6E56CF"/>
      </a:accent5>
      <a:accent6>
        <a:srgbClr val="5B6B84"/>
      </a:accent6>
      <a:hlink>
        <a:srgbClr val="12B5CB"/>
      </a:hlink>
      <a:folHlink>
        <a:srgbClr val="6E56CF"/>
      </a:folHlink>
    </a:clrScheme>
    <a:fontScheme name="NHW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935</Words>
  <Application>Microsoft Office PowerPoint</Application>
  <PresentationFormat>On-screen Show (16:9)</PresentationFormat>
  <Paragraphs>118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NHW Night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Neighbourhood Watch Zimbabwe - Project Presentation</dc:title>
  <dc:subject>PptxGenJS Presentation</dc:subject>
  <dc:creator>Kwekwe Polytechnic, ND3 Information Technology</dc:creator>
  <cp:lastModifiedBy>Dylan Honoria</cp:lastModifiedBy>
  <cp:revision>2</cp:revision>
  <dcterms:created xsi:type="dcterms:W3CDTF">2026-10-16T05:40:38Z</dcterms:created>
  <dcterms:modified xsi:type="dcterms:W3CDTF">2026-10-16T06:09:56Z</dcterms:modified>
</cp:coreProperties>
</file>